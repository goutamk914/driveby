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Driveby exists to help every new driver in Virginia get safer, one drive at a time. Today teens only hear feedback after a mistake, parents cannot see every drive clearly, the 45-hour log is kept on paper, and nobody tracks which skills need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Virginia statistics. In 2025, 33 teen drivers were killed on Virginia roads. Virginia had 115,858 crashes, one every 4.5 minutes. And every Virginia teen needs 45 supervised hours, 15 after sunset, before getting a license.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Teens get feedback the moment it matters, parents coach from data instead of arguments, the 45-hour log fills itself in, and the anonymous hazard map shows VDOT and counties where drivers brake hardest.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Highlights. A live voice coach, safety and efficiency scores, stop sign checks, automatic permit and night hours with a PDF to sign, paper log scanning, and privacy blurring on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Every drive is drawn on the map with its moments. The hazard map shows where drivers brake hardest, pooled anonymously. A spot only publishes after 5 events from 3 different drivers, your own contributions stay private, and the data exports as GeoJSON for VDOT and county planners.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One big Start drive button, a road-sign font you can read at a glance, a tab bar with a little car that drives between tabs, light and dark mode, and a quick start walkthrough every time you open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it's built. Driveby is a native Swift and SwiftUI app. Core ML runs YOLOv8 on the phone, Vision reads paper logs and finds faces, Core Location and Core Motion read the sensors, and OpenStreetMap supplies speed limits and stop signs. 99 automated tests check the scoring.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 to 1:46. When you drive, Driveby records GPS once a second and motion fifty times a second. We smooth the speed with a Savitzky-Golay filter, then flag hard braking, sharp turns, speeding and tailgating. Speed limits come from OpenStreetMap. Each event lowers your safety score, and your speed trace sets your efficiency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 to 2:07. The live coach runs a YOLOv8 model on the phone fifteen times a second. It finds the car ahead and estimates the distance from how wide it looks. Divide by your speed and you get your following time. Under one second for three seconds, and Driveby tells you to back off. Faces and plates are blurred on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2:07 to 2:28. For stop signs, we match your GPS trace to the road, pull that street's stop signs from OpenStreetMap, and find your slowest speed as you pass. Under 0.7 meters per second counts as a full stop. Every stop, turn and brake feeds your skill scores, and Driveby picks what to practice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2:28 to 2:49. Supervised drives go straight into your permit log, and night hours are worked out from the sun's position where you drove. Have a paper log? Snap a photo. Apple's Vision framework reads it and our parser adds up the hours. When you hit your goal, export a PDF for your parent to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2:49 to 3:00. Back at the DMV. FRIEND: So what changed? DRIVER: I could finally see what I was doing wrong. End card: Driveby. Every drive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502920"/>
            <a:ext cx="5029200" cy="914400"/>
          </a:xfrm>
          <a:prstGeom prst="rect">
            <a:avLst/>
          </a:prstGeom>
          <a:noFill/>
          <a:ln/>
        </p:spPr>
        <p:txBody>
          <a:bodyPr wrap="square" lIns="0" tIns="0" rIns="0" bIns="0" rtlCol="0" anchor="ctr"/>
          <a:lstStyle/>
          <a:p>
            <a:pPr indent="0" marL="0">
              <a:buNone/>
            </a:pPr>
            <a:r>
              <a:rPr lang="en-US" sz="6000" b="1" dirty="0">
                <a:solidFill>
                  <a:srgbClr val="1C1C1E"/>
                </a:solidFill>
                <a:latin typeface="Barlow" pitchFamily="34" charset="0"/>
                <a:ea typeface="Barlow" pitchFamily="34" charset="-122"/>
                <a:cs typeface="Barlow" pitchFamily="34" charset="-120"/>
              </a:rPr>
              <a:t>Driveby</a:t>
            </a:r>
            <a:endParaRPr lang="en-US" sz="6000" dirty="0"/>
          </a:p>
        </p:txBody>
      </p:sp>
      <p:sp>
        <p:nvSpPr>
          <p:cNvPr id="3" name="Shape 1"/>
          <p:cNvSpPr/>
          <p:nvPr/>
        </p:nvSpPr>
        <p:spPr>
          <a:xfrm>
            <a:off x="457200" y="1463040"/>
            <a:ext cx="2688336" cy="274320"/>
          </a:xfrm>
          <a:prstGeom prst="roundRect">
            <a:avLst>
              <a:gd name="adj" fmla="val 50000"/>
            </a:avLst>
          </a:prstGeom>
          <a:solidFill>
            <a:srgbClr val="FBE3D3"/>
          </a:solidFill>
          <a:ln w="12700">
            <a:solidFill>
              <a:srgbClr val="FBE3D3"/>
            </a:solidFill>
            <a:prstDash val="solid"/>
          </a:ln>
        </p:spPr>
      </p:sp>
      <p:sp>
        <p:nvSpPr>
          <p:cNvPr id="4" name="Text 2"/>
          <p:cNvSpPr txBox="1"/>
          <p:nvPr/>
        </p:nvSpPr>
        <p:spPr>
          <a:xfrm>
            <a:off x="457200" y="1463040"/>
            <a:ext cx="2688336" cy="274320"/>
          </a:xfrm>
          <a:prstGeom prst="rect">
            <a:avLst/>
          </a:prstGeom>
          <a:noFill/>
          <a:ln/>
        </p:spPr>
        <p:txBody>
          <a:bodyPr wrap="square" lIns="0" tIns="0" rIns="0" bIns="0" rtlCol="0" anchor="ctr"/>
          <a:lstStyle/>
          <a:p>
            <a:pPr algn="ctr" indent="0" marL="0">
              <a:buNone/>
            </a:pPr>
            <a:r>
              <a:rPr lang="en-US" sz="1100" b="1" dirty="0">
                <a:solidFill>
                  <a:srgbClr val="C2410C"/>
                </a:solidFill>
                <a:latin typeface="Inter" pitchFamily="34" charset="0"/>
                <a:ea typeface="Inter" pitchFamily="34" charset="-122"/>
                <a:cs typeface="Inter" pitchFamily="34" charset="-120"/>
              </a:rPr>
              <a:t>Congressional App Challenge 2026</a:t>
            </a:r>
            <a:endParaRPr lang="en-US" sz="1100" dirty="0"/>
          </a:p>
        </p:txBody>
      </p:sp>
      <p:sp>
        <p:nvSpPr>
          <p:cNvPr id="5" name="Text 3"/>
          <p:cNvSpPr txBox="1"/>
          <p:nvPr/>
        </p:nvSpPr>
        <p:spPr>
          <a:xfrm>
            <a:off x="457200" y="1874520"/>
            <a:ext cx="5029200" cy="365760"/>
          </a:xfrm>
          <a:prstGeom prst="rect">
            <a:avLst/>
          </a:prstGeom>
          <a:noFill/>
          <a:ln/>
        </p:spPr>
        <p:txBody>
          <a:bodyPr wrap="square" lIns="0" tIns="0" rIns="0" bIns="0" rtlCol="0" anchor="ctr"/>
          <a:lstStyle/>
          <a:p>
            <a:pPr indent="0" marL="0">
              <a:buNone/>
            </a:pPr>
            <a:r>
              <a:rPr lang="en-US" sz="1600" dirty="0">
                <a:solidFill>
                  <a:srgbClr val="8A8A8E"/>
                </a:solidFill>
                <a:latin typeface="Inter" pitchFamily="34" charset="0"/>
                <a:ea typeface="Inter" pitchFamily="34" charset="-122"/>
                <a:cs typeface="Inter" pitchFamily="34" charset="-120"/>
              </a:rPr>
              <a:t>Your co-pilot for safer driving</a:t>
            </a:r>
            <a:endParaRPr lang="en-US" sz="1600" dirty="0"/>
          </a:p>
        </p:txBody>
      </p:sp>
      <p:sp>
        <p:nvSpPr>
          <p:cNvPr id="6" name="Shape 4"/>
          <p:cNvSpPr/>
          <p:nvPr/>
        </p:nvSpPr>
        <p:spPr>
          <a:xfrm>
            <a:off x="457200" y="2468880"/>
            <a:ext cx="4206240" cy="2240280"/>
          </a:xfrm>
          <a:prstGeom prst="roundRect">
            <a:avLst>
              <a:gd name="adj" fmla="val 7347"/>
            </a:avLst>
          </a:prstGeom>
          <a:solidFill>
            <a:srgbClr val="FFFFFF"/>
          </a:solidFill>
          <a:ln w="12700">
            <a:solidFill>
              <a:srgbClr val="FFFFFF"/>
            </a:solidFill>
            <a:prstDash val="solid"/>
          </a:ln>
        </p:spPr>
      </p:sp>
      <p:sp>
        <p:nvSpPr>
          <p:cNvPr id="7" name="Shape 5"/>
          <p:cNvSpPr/>
          <p:nvPr/>
        </p:nvSpPr>
        <p:spPr>
          <a:xfrm>
            <a:off x="1851660" y="2766060"/>
            <a:ext cx="1417320" cy="1417320"/>
          </a:xfrm>
          <a:prstGeom prst="ellipse">
            <a:avLst/>
          </a:prstGeom>
          <a:solidFill>
            <a:srgbClr val="EF4444"/>
          </a:solidFill>
          <a:ln w="12700">
            <a:solidFill>
              <a:srgbClr val="EF4444"/>
            </a:solidFill>
            <a:prstDash val="solid"/>
          </a:ln>
          <a:effectLst>
            <a:outerShdw sx="100000" sy="100000" kx="0" ky="0" algn="bl" rotWithShape="0" blurRad="177800" dist="38100" dir="5400000">
              <a:srgbClr val="EF4444">
                <a:alpha val="35000"/>
              </a:srgbClr>
            </a:outerShdw>
          </a:effectLst>
        </p:spPr>
      </p:sp>
      <p:sp>
        <p:nvSpPr>
          <p:cNvPr id="8" name="Text 6"/>
          <p:cNvSpPr txBox="1"/>
          <p:nvPr/>
        </p:nvSpPr>
        <p:spPr>
          <a:xfrm>
            <a:off x="1851660" y="2766060"/>
            <a:ext cx="1417320" cy="1417320"/>
          </a:xfrm>
          <a:prstGeom prst="rect">
            <a:avLst/>
          </a:prstGeom>
          <a:noFill/>
          <a:ln/>
        </p:spPr>
        <p:txBody>
          <a:bodyPr wrap="square" lIns="0" tIns="0" rIns="0" bIns="0" rtlCol="0" anchor="ctr"/>
          <a:lstStyle/>
          <a:p>
            <a:pPr algn="ctr" indent="0" marL="0">
              <a:buNone/>
            </a:pPr>
            <a:r>
              <a:rPr lang="en-US" sz="2000" b="1" dirty="0">
                <a:solidFill>
                  <a:srgbClr val="FFFFFF"/>
                </a:solidFill>
                <a:latin typeface="Barlow" pitchFamily="34" charset="0"/>
                <a:ea typeface="Barlow" pitchFamily="34" charset="-122"/>
                <a:cs typeface="Barlow" pitchFamily="34" charset="-120"/>
              </a:rPr>
              <a:t>Start drive</a:t>
            </a:r>
            <a:endParaRPr lang="en-US" sz="2000" dirty="0"/>
          </a:p>
        </p:txBody>
      </p:sp>
      <p:sp>
        <p:nvSpPr>
          <p:cNvPr id="9" name="Text 7"/>
          <p:cNvSpPr txBox="1"/>
          <p:nvPr/>
        </p:nvSpPr>
        <p:spPr>
          <a:xfrm>
            <a:off x="457200" y="4315968"/>
            <a:ext cx="4206240" cy="274320"/>
          </a:xfrm>
          <a:prstGeom prst="rect">
            <a:avLst/>
          </a:prstGeom>
          <a:noFill/>
          <a:ln/>
        </p:spPr>
        <p:txBody>
          <a:bodyPr wrap="square" lIns="0" tIns="0" rIns="0" bIns="0" rtlCol="0" anchor="ctr"/>
          <a:lstStyle/>
          <a:p>
            <a:pPr algn="ctr" indent="0" marL="0">
              <a:buNone/>
            </a:pPr>
            <a:r>
              <a:rPr lang="en-US" sz="1200" dirty="0">
                <a:solidFill>
                  <a:srgbClr val="8A8A8E"/>
                </a:solidFill>
                <a:latin typeface="Inter" pitchFamily="34" charset="0"/>
                <a:ea typeface="Inter" pitchFamily="34" charset="-122"/>
                <a:cs typeface="Inter" pitchFamily="34" charset="-120"/>
              </a:rPr>
              <a:t>Every drive counts</a:t>
            </a:r>
            <a:endParaRPr lang="en-US" sz="1200" dirty="0"/>
          </a:p>
        </p:txBody>
      </p:sp>
      <p:pic>
        <p:nvPicPr>
          <p:cNvPr id="10" name="Image 0" descr="Driveby app screen">    </p:cNvPr>
          <p:cNvPicPr>
            <a:picLocks noChangeAspect="1"/>
          </p:cNvPicPr>
          <p:nvPr/>
        </p:nvPicPr>
        <p:blipFill>
          <a:blip r:embed="rId1"/>
          <a:stretch>
            <a:fillRect/>
          </a:stretch>
        </p:blipFill>
        <p:spPr>
          <a:xfrm>
            <a:off x="6172200" y="411480"/>
            <a:ext cx="1998497" cy="4343400"/>
          </a:xfrm>
          <a:prstGeom prst="rect">
            <a:avLst/>
          </a:prstGeom>
        </p:spPr>
      </p:pic>
      <p:sp>
        <p:nvSpPr>
          <p:cNvPr id="11" name="Shape 8"/>
          <p:cNvSpPr/>
          <p:nvPr/>
        </p:nvSpPr>
        <p:spPr>
          <a:xfrm>
            <a:off x="6172200" y="411480"/>
            <a:ext cx="1998497" cy="4343400"/>
          </a:xfrm>
          <a:prstGeom prst="roundRect">
            <a:avLst>
              <a:gd name="adj" fmla="val 9151"/>
            </a:avLst>
          </a:prstGeom>
          <a:ln w="12700">
            <a:solidFill>
              <a:srgbClr val="D1D1D6"/>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548640"/>
          </a:xfrm>
          <a:prstGeom prst="rect">
            <a:avLst/>
          </a:prstGeom>
          <a:noFill/>
          <a:ln/>
        </p:spPr>
        <p:txBody>
          <a:bodyPr wrap="square" lIns="0" tIns="0" rIns="0" bIns="0" rtlCol="0" anchor="ctr"/>
          <a:lstStyle/>
          <a:p>
            <a:pPr indent="0" marL="0">
              <a:buNone/>
            </a:pPr>
            <a:r>
              <a:rPr lang="en-US" sz="3200" b="1" dirty="0">
                <a:solidFill>
                  <a:srgbClr val="1C1C1E"/>
                </a:solidFill>
                <a:latin typeface="Barlow" pitchFamily="34" charset="0"/>
                <a:ea typeface="Barlow" pitchFamily="34" charset="-122"/>
                <a:cs typeface="Barlow" pitchFamily="34" charset="-120"/>
              </a:rPr>
              <a:t>Purpose</a:t>
            </a:r>
            <a:endParaRPr lang="en-US" sz="3200" dirty="0"/>
          </a:p>
        </p:txBody>
      </p:sp>
      <p:sp>
        <p:nvSpPr>
          <p:cNvPr id="3" name="Shape 1"/>
          <p:cNvSpPr/>
          <p:nvPr/>
        </p:nvSpPr>
        <p:spPr>
          <a:xfrm>
            <a:off x="457200" y="841248"/>
            <a:ext cx="822960" cy="274320"/>
          </a:xfrm>
          <a:prstGeom prst="roundRect">
            <a:avLst>
              <a:gd name="adj" fmla="val 50000"/>
            </a:avLst>
          </a:prstGeom>
          <a:solidFill>
            <a:srgbClr val="FDE2E2"/>
          </a:solidFill>
          <a:ln w="12700">
            <a:solidFill>
              <a:srgbClr val="FDE2E2"/>
            </a:solidFill>
            <a:prstDash val="solid"/>
          </a:ln>
        </p:spPr>
      </p:sp>
      <p:sp>
        <p:nvSpPr>
          <p:cNvPr id="4" name="Text 2"/>
          <p:cNvSpPr txBox="1"/>
          <p:nvPr/>
        </p:nvSpPr>
        <p:spPr>
          <a:xfrm>
            <a:off x="457200" y="841248"/>
            <a:ext cx="822960" cy="274320"/>
          </a:xfrm>
          <a:prstGeom prst="rect">
            <a:avLst/>
          </a:prstGeom>
          <a:noFill/>
          <a:ln/>
        </p:spPr>
        <p:txBody>
          <a:bodyPr wrap="square" lIns="0" tIns="0" rIns="0" bIns="0" rtlCol="0" anchor="ctr"/>
          <a:lstStyle/>
          <a:p>
            <a:pPr algn="ctr" indent="0" marL="0">
              <a:buNone/>
            </a:pPr>
            <a:r>
              <a:rPr lang="en-US" sz="1100" b="1" dirty="0">
                <a:solidFill>
                  <a:srgbClr val="EF4444"/>
                </a:solidFill>
                <a:latin typeface="Inter" pitchFamily="34" charset="0"/>
                <a:ea typeface="Inter" pitchFamily="34" charset="-122"/>
                <a:cs typeface="Inter" pitchFamily="34" charset="-120"/>
              </a:rPr>
              <a:t>Ideology</a:t>
            </a:r>
            <a:endParaRPr lang="en-US" sz="1100" dirty="0"/>
          </a:p>
        </p:txBody>
      </p:sp>
      <p:sp>
        <p:nvSpPr>
          <p:cNvPr id="5" name="Shape 3"/>
          <p:cNvSpPr/>
          <p:nvPr/>
        </p:nvSpPr>
        <p:spPr>
          <a:xfrm>
            <a:off x="457200" y="1325880"/>
            <a:ext cx="5120640" cy="1234440"/>
          </a:xfrm>
          <a:prstGeom prst="roundRect">
            <a:avLst>
              <a:gd name="adj" fmla="val 13333"/>
            </a:avLst>
          </a:prstGeom>
          <a:solidFill>
            <a:srgbClr val="FFFFFF"/>
          </a:solidFill>
          <a:ln w="12700">
            <a:solidFill>
              <a:srgbClr val="FFFFFF"/>
            </a:solidFill>
            <a:prstDash val="solid"/>
          </a:ln>
        </p:spPr>
      </p:sp>
      <p:sp>
        <p:nvSpPr>
          <p:cNvPr id="6" name="Text 4"/>
          <p:cNvSpPr txBox="1"/>
          <p:nvPr/>
        </p:nvSpPr>
        <p:spPr>
          <a:xfrm>
            <a:off x="685800" y="1417320"/>
            <a:ext cx="4663440" cy="1051560"/>
          </a:xfrm>
          <a:prstGeom prst="rect">
            <a:avLst/>
          </a:prstGeom>
          <a:noFill/>
          <a:ln/>
        </p:spPr>
        <p:txBody>
          <a:bodyPr wrap="square" lIns="0" tIns="0" rIns="0" bIns="0" rtlCol="0" anchor="ctr"/>
          <a:lstStyle/>
          <a:p>
            <a:pPr indent="0" marL="0">
              <a:buNone/>
            </a:pPr>
            <a:r>
              <a:rPr lang="en-US" sz="2200" b="1" dirty="0">
                <a:solidFill>
                  <a:srgbClr val="1C1C1E"/>
                </a:solidFill>
                <a:latin typeface="Barlow" pitchFamily="34" charset="0"/>
                <a:ea typeface="Barlow" pitchFamily="34" charset="-122"/>
                <a:cs typeface="Barlow" pitchFamily="34" charset="-120"/>
              </a:rPr>
              <a:t>Help every new driver in Virginia get safer, one drive at a time.</a:t>
            </a:r>
            <a:endParaRPr lang="en-US" sz="2200" dirty="0"/>
          </a:p>
        </p:txBody>
      </p:sp>
      <p:sp>
        <p:nvSpPr>
          <p:cNvPr id="7" name="Shape 5"/>
          <p:cNvSpPr/>
          <p:nvPr/>
        </p:nvSpPr>
        <p:spPr>
          <a:xfrm>
            <a:off x="457200" y="2743200"/>
            <a:ext cx="5120640" cy="1865376"/>
          </a:xfrm>
          <a:prstGeom prst="roundRect">
            <a:avLst>
              <a:gd name="adj" fmla="val 8824"/>
            </a:avLst>
          </a:prstGeom>
          <a:solidFill>
            <a:srgbClr val="FFFFFF"/>
          </a:solidFill>
          <a:ln w="12700">
            <a:solidFill>
              <a:srgbClr val="FFFFFF"/>
            </a:solidFill>
            <a:prstDash val="solid"/>
          </a:ln>
        </p:spPr>
      </p:sp>
      <p:sp>
        <p:nvSpPr>
          <p:cNvPr id="8" name="Text 6"/>
          <p:cNvSpPr txBox="1"/>
          <p:nvPr/>
        </p:nvSpPr>
        <p:spPr>
          <a:xfrm>
            <a:off x="640080" y="2834640"/>
            <a:ext cx="475488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Why it's needed</a:t>
            </a:r>
            <a:endParaRPr lang="en-US" sz="1500" dirty="0"/>
          </a:p>
        </p:txBody>
      </p:sp>
      <p:sp>
        <p:nvSpPr>
          <p:cNvPr id="9" name="Shape 7"/>
          <p:cNvSpPr/>
          <p:nvPr/>
        </p:nvSpPr>
        <p:spPr>
          <a:xfrm>
            <a:off x="676656" y="3300984"/>
            <a:ext cx="109728" cy="109728"/>
          </a:xfrm>
          <a:prstGeom prst="ellipse">
            <a:avLst/>
          </a:prstGeom>
          <a:solidFill>
            <a:srgbClr val="EF4444"/>
          </a:solidFill>
          <a:ln w="12700">
            <a:solidFill>
              <a:srgbClr val="EF4444"/>
            </a:solidFill>
            <a:prstDash val="solid"/>
          </a:ln>
        </p:spPr>
      </p:sp>
      <p:sp>
        <p:nvSpPr>
          <p:cNvPr id="10" name="Text 8"/>
          <p:cNvSpPr txBox="1"/>
          <p:nvPr/>
        </p:nvSpPr>
        <p:spPr>
          <a:xfrm>
            <a:off x="896112" y="3200400"/>
            <a:ext cx="45262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Teens only hear feedback after a mistake</a:t>
            </a:r>
            <a:endParaRPr lang="en-US" sz="1300" dirty="0"/>
          </a:p>
        </p:txBody>
      </p:sp>
      <p:sp>
        <p:nvSpPr>
          <p:cNvPr id="11" name="Shape 9"/>
          <p:cNvSpPr/>
          <p:nvPr/>
        </p:nvSpPr>
        <p:spPr>
          <a:xfrm>
            <a:off x="676656" y="3630168"/>
            <a:ext cx="109728" cy="109728"/>
          </a:xfrm>
          <a:prstGeom prst="ellipse">
            <a:avLst/>
          </a:prstGeom>
          <a:solidFill>
            <a:srgbClr val="EF4444"/>
          </a:solidFill>
          <a:ln w="12700">
            <a:solidFill>
              <a:srgbClr val="EF4444"/>
            </a:solidFill>
            <a:prstDash val="solid"/>
          </a:ln>
        </p:spPr>
      </p:sp>
      <p:sp>
        <p:nvSpPr>
          <p:cNvPr id="12" name="Text 10"/>
          <p:cNvSpPr txBox="1"/>
          <p:nvPr/>
        </p:nvSpPr>
        <p:spPr>
          <a:xfrm>
            <a:off x="896112" y="3529584"/>
            <a:ext cx="45262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Parents can't see every drive clearly</a:t>
            </a:r>
            <a:endParaRPr lang="en-US" sz="1300" dirty="0"/>
          </a:p>
        </p:txBody>
      </p:sp>
      <p:sp>
        <p:nvSpPr>
          <p:cNvPr id="13" name="Shape 11"/>
          <p:cNvSpPr/>
          <p:nvPr/>
        </p:nvSpPr>
        <p:spPr>
          <a:xfrm>
            <a:off x="676656" y="3959352"/>
            <a:ext cx="109728" cy="109728"/>
          </a:xfrm>
          <a:prstGeom prst="ellipse">
            <a:avLst/>
          </a:prstGeom>
          <a:solidFill>
            <a:srgbClr val="EF4444"/>
          </a:solidFill>
          <a:ln w="12700">
            <a:solidFill>
              <a:srgbClr val="EF4444"/>
            </a:solidFill>
            <a:prstDash val="solid"/>
          </a:ln>
        </p:spPr>
      </p:sp>
      <p:sp>
        <p:nvSpPr>
          <p:cNvPr id="14" name="Text 12"/>
          <p:cNvSpPr txBox="1"/>
          <p:nvPr/>
        </p:nvSpPr>
        <p:spPr>
          <a:xfrm>
            <a:off x="896112" y="3858768"/>
            <a:ext cx="45262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The 45-hour log is still kept on paper</a:t>
            </a:r>
            <a:endParaRPr lang="en-US" sz="1300" dirty="0"/>
          </a:p>
        </p:txBody>
      </p:sp>
      <p:sp>
        <p:nvSpPr>
          <p:cNvPr id="15" name="Shape 13"/>
          <p:cNvSpPr/>
          <p:nvPr/>
        </p:nvSpPr>
        <p:spPr>
          <a:xfrm>
            <a:off x="676656" y="4288536"/>
            <a:ext cx="109728" cy="109728"/>
          </a:xfrm>
          <a:prstGeom prst="ellipse">
            <a:avLst/>
          </a:prstGeom>
          <a:solidFill>
            <a:srgbClr val="EF4444"/>
          </a:solidFill>
          <a:ln w="12700">
            <a:solidFill>
              <a:srgbClr val="EF4444"/>
            </a:solidFill>
            <a:prstDash val="solid"/>
          </a:ln>
        </p:spPr>
      </p:sp>
      <p:sp>
        <p:nvSpPr>
          <p:cNvPr id="16" name="Text 14"/>
          <p:cNvSpPr txBox="1"/>
          <p:nvPr/>
        </p:nvSpPr>
        <p:spPr>
          <a:xfrm>
            <a:off x="896112" y="4187952"/>
            <a:ext cx="45262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No one tracks which skills need practice</a:t>
            </a:r>
            <a:endParaRPr lang="en-US" sz="1300" dirty="0"/>
          </a:p>
        </p:txBody>
      </p:sp>
      <p:pic>
        <p:nvPicPr>
          <p:cNvPr id="17" name="Image 0" descr="Driveby app screen">    </p:cNvPr>
          <p:cNvPicPr>
            <a:picLocks noChangeAspect="1"/>
          </p:cNvPicPr>
          <p:nvPr/>
        </p:nvPicPr>
        <p:blipFill>
          <a:blip r:embed="rId1"/>
          <a:stretch>
            <a:fillRect/>
          </a:stretch>
        </p:blipFill>
        <p:spPr>
          <a:xfrm>
            <a:off x="6675120" y="411480"/>
            <a:ext cx="1998497" cy="4343400"/>
          </a:xfrm>
          <a:prstGeom prst="rect">
            <a:avLst/>
          </a:prstGeom>
        </p:spPr>
      </p:pic>
      <p:sp>
        <p:nvSpPr>
          <p:cNvPr id="18" name="Shape 15"/>
          <p:cNvSpPr/>
          <p:nvPr/>
        </p:nvSpPr>
        <p:spPr>
          <a:xfrm>
            <a:off x="6675120" y="411480"/>
            <a:ext cx="1998497" cy="4343400"/>
          </a:xfrm>
          <a:prstGeom prst="roundRect">
            <a:avLst>
              <a:gd name="adj" fmla="val 9151"/>
            </a:avLst>
          </a:prstGeom>
          <a:ln w="12700">
            <a:solidFill>
              <a:srgbClr val="D1D1D6"/>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548640"/>
          </a:xfrm>
          <a:prstGeom prst="rect">
            <a:avLst/>
          </a:prstGeom>
          <a:noFill/>
          <a:ln/>
        </p:spPr>
        <p:txBody>
          <a:bodyPr wrap="square" lIns="0" tIns="0" rIns="0" bIns="0" rtlCol="0" anchor="ctr"/>
          <a:lstStyle/>
          <a:p>
            <a:pPr indent="0" marL="0">
              <a:buNone/>
            </a:pPr>
            <a:r>
              <a:rPr lang="en-US" sz="3200" b="1" dirty="0">
                <a:solidFill>
                  <a:srgbClr val="1C1C1E"/>
                </a:solidFill>
                <a:latin typeface="Barlow" pitchFamily="34" charset="0"/>
                <a:ea typeface="Barlow" pitchFamily="34" charset="-122"/>
                <a:cs typeface="Barlow" pitchFamily="34" charset="-120"/>
              </a:rPr>
              <a:t>Virginia Statistics</a:t>
            </a:r>
            <a:endParaRPr lang="en-US" sz="3200" dirty="0"/>
          </a:p>
        </p:txBody>
      </p:sp>
      <p:sp>
        <p:nvSpPr>
          <p:cNvPr id="3" name="Shape 1"/>
          <p:cNvSpPr/>
          <p:nvPr/>
        </p:nvSpPr>
        <p:spPr>
          <a:xfrm>
            <a:off x="457200" y="841248"/>
            <a:ext cx="822960" cy="274320"/>
          </a:xfrm>
          <a:prstGeom prst="roundRect">
            <a:avLst>
              <a:gd name="adj" fmla="val 50000"/>
            </a:avLst>
          </a:prstGeom>
          <a:solidFill>
            <a:srgbClr val="FDE2E2"/>
          </a:solidFill>
          <a:ln w="12700">
            <a:solidFill>
              <a:srgbClr val="FDE2E2"/>
            </a:solidFill>
            <a:prstDash val="solid"/>
          </a:ln>
        </p:spPr>
      </p:sp>
      <p:sp>
        <p:nvSpPr>
          <p:cNvPr id="4" name="Text 2"/>
          <p:cNvSpPr txBox="1"/>
          <p:nvPr/>
        </p:nvSpPr>
        <p:spPr>
          <a:xfrm>
            <a:off x="457200" y="841248"/>
            <a:ext cx="822960" cy="274320"/>
          </a:xfrm>
          <a:prstGeom prst="rect">
            <a:avLst/>
          </a:prstGeom>
          <a:noFill/>
          <a:ln/>
        </p:spPr>
        <p:txBody>
          <a:bodyPr wrap="square" lIns="0" tIns="0" rIns="0" bIns="0" rtlCol="0" anchor="ctr"/>
          <a:lstStyle/>
          <a:p>
            <a:pPr algn="ctr" indent="0" marL="0">
              <a:buNone/>
            </a:pPr>
            <a:r>
              <a:rPr lang="en-US" sz="1100" b="1" dirty="0">
                <a:solidFill>
                  <a:srgbClr val="EF4444"/>
                </a:solidFill>
                <a:latin typeface="Inter" pitchFamily="34" charset="0"/>
                <a:ea typeface="Inter" pitchFamily="34" charset="-122"/>
                <a:cs typeface="Inter" pitchFamily="34" charset="-120"/>
              </a:rPr>
              <a:t>Ideology</a:t>
            </a:r>
            <a:endParaRPr lang="en-US" sz="1100" dirty="0"/>
          </a:p>
        </p:txBody>
      </p:sp>
      <p:sp>
        <p:nvSpPr>
          <p:cNvPr id="5" name="Shape 3"/>
          <p:cNvSpPr/>
          <p:nvPr/>
        </p:nvSpPr>
        <p:spPr>
          <a:xfrm>
            <a:off x="457200" y="1371600"/>
            <a:ext cx="2606040" cy="2377440"/>
          </a:xfrm>
          <a:prstGeom prst="roundRect">
            <a:avLst>
              <a:gd name="adj" fmla="val 6923"/>
            </a:avLst>
          </a:prstGeom>
          <a:solidFill>
            <a:srgbClr val="FFFFFF"/>
          </a:solidFill>
          <a:ln w="12700">
            <a:solidFill>
              <a:srgbClr val="FFFFFF"/>
            </a:solidFill>
            <a:prstDash val="solid"/>
          </a:ln>
        </p:spPr>
      </p:sp>
      <p:sp>
        <p:nvSpPr>
          <p:cNvPr id="6" name="Text 4"/>
          <p:cNvSpPr txBox="1"/>
          <p:nvPr/>
        </p:nvSpPr>
        <p:spPr>
          <a:xfrm>
            <a:off x="685800" y="1600200"/>
            <a:ext cx="2148840" cy="822960"/>
          </a:xfrm>
          <a:prstGeom prst="rect">
            <a:avLst/>
          </a:prstGeom>
          <a:noFill/>
          <a:ln/>
        </p:spPr>
        <p:txBody>
          <a:bodyPr wrap="square" lIns="0" tIns="0" rIns="0" bIns="0" rtlCol="0" anchor="ctr"/>
          <a:lstStyle/>
          <a:p>
            <a:pPr indent="0" marL="0">
              <a:buNone/>
            </a:pPr>
            <a:r>
              <a:rPr lang="en-US" sz="4800" b="1" dirty="0">
                <a:solidFill>
                  <a:srgbClr val="EF4444"/>
                </a:solidFill>
                <a:latin typeface="Barlow" pitchFamily="34" charset="0"/>
                <a:ea typeface="Barlow" pitchFamily="34" charset="-122"/>
                <a:cs typeface="Barlow" pitchFamily="34" charset="-120"/>
              </a:rPr>
              <a:t>33</a:t>
            </a:r>
            <a:endParaRPr lang="en-US" sz="4800" dirty="0"/>
          </a:p>
        </p:txBody>
      </p:sp>
      <p:sp>
        <p:nvSpPr>
          <p:cNvPr id="7" name="Text 5"/>
          <p:cNvSpPr txBox="1"/>
          <p:nvPr/>
        </p:nvSpPr>
        <p:spPr>
          <a:xfrm>
            <a:off x="685800" y="2468880"/>
            <a:ext cx="2148840" cy="1097280"/>
          </a:xfrm>
          <a:prstGeom prst="rect">
            <a:avLst/>
          </a:prstGeom>
          <a:noFill/>
          <a:ln/>
        </p:spPr>
        <p:txBody>
          <a:bodyPr wrap="square" lIns="0" tIns="0" rIns="0" bIns="0" rtlCol="0" anchor="t"/>
          <a:lstStyle/>
          <a:p>
            <a:pPr indent="0" marL="0">
              <a:buNone/>
            </a:pPr>
            <a:r>
              <a:rPr lang="en-US" sz="1300" dirty="0">
                <a:solidFill>
                  <a:srgbClr val="1C1C1E"/>
                </a:solidFill>
                <a:latin typeface="Inter" pitchFamily="34" charset="0"/>
                <a:ea typeface="Inter" pitchFamily="34" charset="-122"/>
                <a:cs typeface="Inter" pitchFamily="34" charset="-120"/>
              </a:rPr>
              <a:t>teen drivers ages 15 to 19 killed on Virginia roads in 2025</a:t>
            </a:r>
            <a:endParaRPr lang="en-US" sz="1300" dirty="0"/>
          </a:p>
        </p:txBody>
      </p:sp>
      <p:sp>
        <p:nvSpPr>
          <p:cNvPr id="8" name="Shape 6"/>
          <p:cNvSpPr/>
          <p:nvPr/>
        </p:nvSpPr>
        <p:spPr>
          <a:xfrm>
            <a:off x="3264408" y="1371600"/>
            <a:ext cx="2606040" cy="2377440"/>
          </a:xfrm>
          <a:prstGeom prst="roundRect">
            <a:avLst>
              <a:gd name="adj" fmla="val 6923"/>
            </a:avLst>
          </a:prstGeom>
          <a:solidFill>
            <a:srgbClr val="FFFFFF"/>
          </a:solidFill>
          <a:ln w="12700">
            <a:solidFill>
              <a:srgbClr val="FFFFFF"/>
            </a:solidFill>
            <a:prstDash val="solid"/>
          </a:ln>
        </p:spPr>
      </p:sp>
      <p:sp>
        <p:nvSpPr>
          <p:cNvPr id="9" name="Text 7"/>
          <p:cNvSpPr txBox="1"/>
          <p:nvPr/>
        </p:nvSpPr>
        <p:spPr>
          <a:xfrm>
            <a:off x="3493008" y="1600200"/>
            <a:ext cx="2148840" cy="822960"/>
          </a:xfrm>
          <a:prstGeom prst="rect">
            <a:avLst/>
          </a:prstGeom>
          <a:noFill/>
          <a:ln/>
        </p:spPr>
        <p:txBody>
          <a:bodyPr wrap="square" lIns="0" tIns="0" rIns="0" bIns="0" rtlCol="0" anchor="ctr"/>
          <a:lstStyle/>
          <a:p>
            <a:pPr indent="0" marL="0">
              <a:buNone/>
            </a:pPr>
            <a:r>
              <a:rPr lang="en-US" sz="4800" b="1" dirty="0">
                <a:solidFill>
                  <a:srgbClr val="C2410C"/>
                </a:solidFill>
                <a:latin typeface="Barlow" pitchFamily="34" charset="0"/>
                <a:ea typeface="Barlow" pitchFamily="34" charset="-122"/>
                <a:cs typeface="Barlow" pitchFamily="34" charset="-120"/>
              </a:rPr>
              <a:t>4.5 min</a:t>
            </a:r>
            <a:endParaRPr lang="en-US" sz="4800" dirty="0"/>
          </a:p>
        </p:txBody>
      </p:sp>
      <p:sp>
        <p:nvSpPr>
          <p:cNvPr id="10" name="Text 8"/>
          <p:cNvSpPr txBox="1"/>
          <p:nvPr/>
        </p:nvSpPr>
        <p:spPr>
          <a:xfrm>
            <a:off x="3493008" y="2468880"/>
            <a:ext cx="2148840" cy="1097280"/>
          </a:xfrm>
          <a:prstGeom prst="rect">
            <a:avLst/>
          </a:prstGeom>
          <a:noFill/>
          <a:ln/>
        </p:spPr>
        <p:txBody>
          <a:bodyPr wrap="square" lIns="0" tIns="0" rIns="0" bIns="0" rtlCol="0" anchor="t"/>
          <a:lstStyle/>
          <a:p>
            <a:pPr indent="0" marL="0">
              <a:buNone/>
            </a:pPr>
            <a:r>
              <a:rPr lang="en-US" sz="1300" dirty="0">
                <a:solidFill>
                  <a:srgbClr val="1C1C1E"/>
                </a:solidFill>
                <a:latin typeface="Inter" pitchFamily="34" charset="0"/>
                <a:ea typeface="Inter" pitchFamily="34" charset="-122"/>
                <a:cs typeface="Inter" pitchFamily="34" charset="-120"/>
              </a:rPr>
              <a:t>between crashes in Virginia, 115,858 crashes in 2025</a:t>
            </a:r>
            <a:endParaRPr lang="en-US" sz="1300" dirty="0"/>
          </a:p>
        </p:txBody>
      </p:sp>
      <p:sp>
        <p:nvSpPr>
          <p:cNvPr id="11" name="Shape 9"/>
          <p:cNvSpPr/>
          <p:nvPr/>
        </p:nvSpPr>
        <p:spPr>
          <a:xfrm>
            <a:off x="6071616" y="1371600"/>
            <a:ext cx="2606040" cy="2377440"/>
          </a:xfrm>
          <a:prstGeom prst="roundRect">
            <a:avLst>
              <a:gd name="adj" fmla="val 6923"/>
            </a:avLst>
          </a:prstGeom>
          <a:solidFill>
            <a:srgbClr val="FFFFFF"/>
          </a:solidFill>
          <a:ln w="12700">
            <a:solidFill>
              <a:srgbClr val="FFFFFF"/>
            </a:solidFill>
            <a:prstDash val="solid"/>
          </a:ln>
        </p:spPr>
      </p:sp>
      <p:sp>
        <p:nvSpPr>
          <p:cNvPr id="12" name="Text 10"/>
          <p:cNvSpPr txBox="1"/>
          <p:nvPr/>
        </p:nvSpPr>
        <p:spPr>
          <a:xfrm>
            <a:off x="6300216" y="1600200"/>
            <a:ext cx="2148840" cy="822960"/>
          </a:xfrm>
          <a:prstGeom prst="rect">
            <a:avLst/>
          </a:prstGeom>
          <a:noFill/>
          <a:ln/>
        </p:spPr>
        <p:txBody>
          <a:bodyPr wrap="square" lIns="0" tIns="0" rIns="0" bIns="0" rtlCol="0" anchor="ctr"/>
          <a:lstStyle/>
          <a:p>
            <a:pPr indent="0" marL="0">
              <a:buNone/>
            </a:pPr>
            <a:r>
              <a:rPr lang="en-US" sz="4800" b="1" dirty="0">
                <a:solidFill>
                  <a:srgbClr val="0F766E"/>
                </a:solidFill>
                <a:latin typeface="Barlow" pitchFamily="34" charset="0"/>
                <a:ea typeface="Barlow" pitchFamily="34" charset="-122"/>
                <a:cs typeface="Barlow" pitchFamily="34" charset="-120"/>
              </a:rPr>
              <a:t>45 h</a:t>
            </a:r>
            <a:endParaRPr lang="en-US" sz="4800" dirty="0"/>
          </a:p>
        </p:txBody>
      </p:sp>
      <p:sp>
        <p:nvSpPr>
          <p:cNvPr id="13" name="Text 11"/>
          <p:cNvSpPr txBox="1"/>
          <p:nvPr/>
        </p:nvSpPr>
        <p:spPr>
          <a:xfrm>
            <a:off x="6300216" y="2468880"/>
            <a:ext cx="2148840" cy="1097280"/>
          </a:xfrm>
          <a:prstGeom prst="rect">
            <a:avLst/>
          </a:prstGeom>
          <a:noFill/>
          <a:ln/>
        </p:spPr>
        <p:txBody>
          <a:bodyPr wrap="square" lIns="0" tIns="0" rIns="0" bIns="0" rtlCol="0" anchor="t"/>
          <a:lstStyle/>
          <a:p>
            <a:pPr indent="0" marL="0">
              <a:buNone/>
            </a:pPr>
            <a:r>
              <a:rPr lang="en-US" sz="1300" dirty="0">
                <a:solidFill>
                  <a:srgbClr val="1C1C1E"/>
                </a:solidFill>
                <a:latin typeface="Inter" pitchFamily="34" charset="0"/>
                <a:ea typeface="Inter" pitchFamily="34" charset="-122"/>
                <a:cs typeface="Inter" pitchFamily="34" charset="-120"/>
              </a:rPr>
              <a:t>of supervised driving Virginia requires for a license, 15 of them after sunset</a:t>
            </a:r>
            <a:endParaRPr lang="en-US" sz="1300" dirty="0"/>
          </a:p>
        </p:txBody>
      </p:sp>
      <p:sp>
        <p:nvSpPr>
          <p:cNvPr id="14" name="Text 12"/>
          <p:cNvSpPr txBox="1"/>
          <p:nvPr/>
        </p:nvSpPr>
        <p:spPr>
          <a:xfrm>
            <a:off x="457200" y="4023360"/>
            <a:ext cx="8229600" cy="274320"/>
          </a:xfrm>
          <a:prstGeom prst="rect">
            <a:avLst/>
          </a:prstGeom>
          <a:noFill/>
          <a:ln/>
        </p:spPr>
        <p:txBody>
          <a:bodyPr wrap="square" lIns="0" tIns="0" rIns="0" bIns="0" rtlCol="0" anchor="ctr"/>
          <a:lstStyle/>
          <a:p>
            <a:pPr indent="0" marL="0">
              <a:buNone/>
            </a:pPr>
            <a:r>
              <a:rPr lang="en-US" sz="1000" dirty="0">
                <a:solidFill>
                  <a:srgbClr val="8A8A8E"/>
                </a:solidFill>
                <a:latin typeface="Inter" pitchFamily="34" charset="0"/>
                <a:ea typeface="Inter" pitchFamily="34" charset="-122"/>
                <a:cs typeface="Inter" pitchFamily="34" charset="-120"/>
              </a:rPr>
              <a:t>Sources: Virginia DMV, 2025 Virginia Traffic Crash Facts. Virginia Department of Education, parent/teen driving guide.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548640"/>
          </a:xfrm>
          <a:prstGeom prst="rect">
            <a:avLst/>
          </a:prstGeom>
          <a:noFill/>
          <a:ln/>
        </p:spPr>
        <p:txBody>
          <a:bodyPr wrap="square" lIns="0" tIns="0" rIns="0" bIns="0" rtlCol="0" anchor="ctr"/>
          <a:lstStyle/>
          <a:p>
            <a:pPr indent="0" marL="0">
              <a:buNone/>
            </a:pPr>
            <a:r>
              <a:rPr lang="en-US" sz="3200" b="1" dirty="0">
                <a:solidFill>
                  <a:srgbClr val="1C1C1E"/>
                </a:solidFill>
                <a:latin typeface="Barlow" pitchFamily="34" charset="0"/>
                <a:ea typeface="Barlow" pitchFamily="34" charset="-122"/>
                <a:cs typeface="Barlow" pitchFamily="34" charset="-120"/>
              </a:rPr>
              <a:t>Impact</a:t>
            </a:r>
            <a:endParaRPr lang="en-US" sz="3200" dirty="0"/>
          </a:p>
        </p:txBody>
      </p:sp>
      <p:sp>
        <p:nvSpPr>
          <p:cNvPr id="3" name="Shape 1"/>
          <p:cNvSpPr/>
          <p:nvPr/>
        </p:nvSpPr>
        <p:spPr>
          <a:xfrm>
            <a:off x="457200" y="841248"/>
            <a:ext cx="667512" cy="274320"/>
          </a:xfrm>
          <a:prstGeom prst="roundRect">
            <a:avLst>
              <a:gd name="adj" fmla="val 50000"/>
            </a:avLst>
          </a:prstGeom>
          <a:solidFill>
            <a:srgbClr val="FBE3D3"/>
          </a:solidFill>
          <a:ln w="12700">
            <a:solidFill>
              <a:srgbClr val="FBE3D3"/>
            </a:solidFill>
            <a:prstDash val="solid"/>
          </a:ln>
        </p:spPr>
      </p:sp>
      <p:sp>
        <p:nvSpPr>
          <p:cNvPr id="4" name="Text 2"/>
          <p:cNvSpPr txBox="1"/>
          <p:nvPr/>
        </p:nvSpPr>
        <p:spPr>
          <a:xfrm>
            <a:off x="457200" y="841248"/>
            <a:ext cx="667512" cy="274320"/>
          </a:xfrm>
          <a:prstGeom prst="rect">
            <a:avLst/>
          </a:prstGeom>
          <a:noFill/>
          <a:ln/>
        </p:spPr>
        <p:txBody>
          <a:bodyPr wrap="square" lIns="0" tIns="0" rIns="0" bIns="0" rtlCol="0" anchor="ctr"/>
          <a:lstStyle/>
          <a:p>
            <a:pPr algn="ctr" indent="0" marL="0">
              <a:buNone/>
            </a:pPr>
            <a:r>
              <a:rPr lang="en-US" sz="1100" b="1" dirty="0">
                <a:solidFill>
                  <a:srgbClr val="C2410C"/>
                </a:solidFill>
                <a:latin typeface="Inter" pitchFamily="34" charset="0"/>
                <a:ea typeface="Inter" pitchFamily="34" charset="-122"/>
                <a:cs typeface="Inter" pitchFamily="34" charset="-120"/>
              </a:rPr>
              <a:t>Impact</a:t>
            </a:r>
            <a:endParaRPr lang="en-US" sz="1100" dirty="0"/>
          </a:p>
        </p:txBody>
      </p:sp>
      <p:sp>
        <p:nvSpPr>
          <p:cNvPr id="5" name="Shape 3"/>
          <p:cNvSpPr/>
          <p:nvPr/>
        </p:nvSpPr>
        <p:spPr>
          <a:xfrm>
            <a:off x="457200" y="1325880"/>
            <a:ext cx="5120640" cy="1865376"/>
          </a:xfrm>
          <a:prstGeom prst="roundRect">
            <a:avLst>
              <a:gd name="adj" fmla="val 8824"/>
            </a:avLst>
          </a:prstGeom>
          <a:solidFill>
            <a:srgbClr val="FFFFFF"/>
          </a:solidFill>
          <a:ln w="12700">
            <a:solidFill>
              <a:srgbClr val="FFFFFF"/>
            </a:solidFill>
            <a:prstDash val="solid"/>
          </a:ln>
        </p:spPr>
      </p:sp>
      <p:sp>
        <p:nvSpPr>
          <p:cNvPr id="6" name="Text 4"/>
          <p:cNvSpPr txBox="1"/>
          <p:nvPr/>
        </p:nvSpPr>
        <p:spPr>
          <a:xfrm>
            <a:off x="640080" y="1417320"/>
            <a:ext cx="475488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Who it helps</a:t>
            </a:r>
            <a:endParaRPr lang="en-US" sz="1500" dirty="0"/>
          </a:p>
        </p:txBody>
      </p:sp>
      <p:sp>
        <p:nvSpPr>
          <p:cNvPr id="7" name="Shape 5"/>
          <p:cNvSpPr/>
          <p:nvPr/>
        </p:nvSpPr>
        <p:spPr>
          <a:xfrm>
            <a:off x="676656" y="1883664"/>
            <a:ext cx="109728" cy="109728"/>
          </a:xfrm>
          <a:prstGeom prst="ellipse">
            <a:avLst/>
          </a:prstGeom>
          <a:solidFill>
            <a:srgbClr val="C2410C"/>
          </a:solidFill>
          <a:ln w="12700">
            <a:solidFill>
              <a:srgbClr val="C2410C"/>
            </a:solidFill>
            <a:prstDash val="solid"/>
          </a:ln>
        </p:spPr>
      </p:sp>
      <p:sp>
        <p:nvSpPr>
          <p:cNvPr id="8" name="Text 6"/>
          <p:cNvSpPr txBox="1"/>
          <p:nvPr/>
        </p:nvSpPr>
        <p:spPr>
          <a:xfrm>
            <a:off x="896112" y="1783080"/>
            <a:ext cx="45262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Teens get feedback the moment it matters</a:t>
            </a:r>
            <a:endParaRPr lang="en-US" sz="1300" dirty="0"/>
          </a:p>
        </p:txBody>
      </p:sp>
      <p:sp>
        <p:nvSpPr>
          <p:cNvPr id="9" name="Shape 7"/>
          <p:cNvSpPr/>
          <p:nvPr/>
        </p:nvSpPr>
        <p:spPr>
          <a:xfrm>
            <a:off x="676656" y="2212848"/>
            <a:ext cx="109728" cy="109728"/>
          </a:xfrm>
          <a:prstGeom prst="ellipse">
            <a:avLst/>
          </a:prstGeom>
          <a:solidFill>
            <a:srgbClr val="C2410C"/>
          </a:solidFill>
          <a:ln w="12700">
            <a:solidFill>
              <a:srgbClr val="C2410C"/>
            </a:solidFill>
            <a:prstDash val="solid"/>
          </a:ln>
        </p:spPr>
      </p:sp>
      <p:sp>
        <p:nvSpPr>
          <p:cNvPr id="10" name="Text 8"/>
          <p:cNvSpPr txBox="1"/>
          <p:nvPr/>
        </p:nvSpPr>
        <p:spPr>
          <a:xfrm>
            <a:off x="896112" y="2112264"/>
            <a:ext cx="45262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Parents coach from data, not arguments</a:t>
            </a:r>
            <a:endParaRPr lang="en-US" sz="1300" dirty="0"/>
          </a:p>
        </p:txBody>
      </p:sp>
      <p:sp>
        <p:nvSpPr>
          <p:cNvPr id="11" name="Shape 9"/>
          <p:cNvSpPr/>
          <p:nvPr/>
        </p:nvSpPr>
        <p:spPr>
          <a:xfrm>
            <a:off x="676656" y="2542032"/>
            <a:ext cx="109728" cy="109728"/>
          </a:xfrm>
          <a:prstGeom prst="ellipse">
            <a:avLst/>
          </a:prstGeom>
          <a:solidFill>
            <a:srgbClr val="C2410C"/>
          </a:solidFill>
          <a:ln w="12700">
            <a:solidFill>
              <a:srgbClr val="C2410C"/>
            </a:solidFill>
            <a:prstDash val="solid"/>
          </a:ln>
        </p:spPr>
      </p:sp>
      <p:sp>
        <p:nvSpPr>
          <p:cNvPr id="12" name="Text 10"/>
          <p:cNvSpPr txBox="1"/>
          <p:nvPr/>
        </p:nvSpPr>
        <p:spPr>
          <a:xfrm>
            <a:off x="896112" y="2441448"/>
            <a:ext cx="45262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The 45-hour log fills itself in</a:t>
            </a:r>
            <a:endParaRPr lang="en-US" sz="1300" dirty="0"/>
          </a:p>
        </p:txBody>
      </p:sp>
      <p:sp>
        <p:nvSpPr>
          <p:cNvPr id="13" name="Shape 11"/>
          <p:cNvSpPr/>
          <p:nvPr/>
        </p:nvSpPr>
        <p:spPr>
          <a:xfrm>
            <a:off x="676656" y="2871216"/>
            <a:ext cx="109728" cy="109728"/>
          </a:xfrm>
          <a:prstGeom prst="ellipse">
            <a:avLst/>
          </a:prstGeom>
          <a:solidFill>
            <a:srgbClr val="C2410C"/>
          </a:solidFill>
          <a:ln w="12700">
            <a:solidFill>
              <a:srgbClr val="C2410C"/>
            </a:solidFill>
            <a:prstDash val="solid"/>
          </a:ln>
        </p:spPr>
      </p:sp>
      <p:sp>
        <p:nvSpPr>
          <p:cNvPr id="14" name="Text 12"/>
          <p:cNvSpPr txBox="1"/>
          <p:nvPr/>
        </p:nvSpPr>
        <p:spPr>
          <a:xfrm>
            <a:off x="896112" y="2770632"/>
            <a:ext cx="45262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Hazard map shows VDOT and counties risky spots</a:t>
            </a:r>
            <a:endParaRPr lang="en-US" sz="1300" dirty="0"/>
          </a:p>
        </p:txBody>
      </p:sp>
      <p:sp>
        <p:nvSpPr>
          <p:cNvPr id="15" name="Shape 13"/>
          <p:cNvSpPr/>
          <p:nvPr/>
        </p:nvSpPr>
        <p:spPr>
          <a:xfrm>
            <a:off x="457200" y="3291840"/>
            <a:ext cx="5120640" cy="1554480"/>
          </a:xfrm>
          <a:prstGeom prst="roundRect">
            <a:avLst>
              <a:gd name="adj" fmla="val 10588"/>
            </a:avLst>
          </a:prstGeom>
          <a:solidFill>
            <a:srgbClr val="FFFFFF"/>
          </a:solidFill>
          <a:ln w="12700">
            <a:solidFill>
              <a:srgbClr val="FFFFFF"/>
            </a:solidFill>
            <a:prstDash val="solid"/>
          </a:ln>
        </p:spPr>
      </p:sp>
      <p:sp>
        <p:nvSpPr>
          <p:cNvPr id="16" name="Shape 14"/>
          <p:cNvSpPr/>
          <p:nvPr/>
        </p:nvSpPr>
        <p:spPr>
          <a:xfrm>
            <a:off x="1394460" y="3497580"/>
            <a:ext cx="868680" cy="868680"/>
          </a:xfrm>
          <a:prstGeom prst="donut">
            <a:avLst/>
          </a:prstGeom>
          <a:solidFill>
            <a:srgbClr val="DCE6FB"/>
          </a:solidFill>
          <a:ln w="12700">
            <a:solidFill>
              <a:srgbClr val="DCE6FB"/>
            </a:solidFill>
            <a:prstDash val="solid"/>
          </a:ln>
        </p:spPr>
      </p:sp>
      <p:sp>
        <p:nvSpPr>
          <p:cNvPr id="17" name="Shape 15"/>
          <p:cNvSpPr/>
          <p:nvPr/>
        </p:nvSpPr>
        <p:spPr>
          <a:xfrm>
            <a:off x="1394460" y="3497580"/>
            <a:ext cx="868680" cy="868680"/>
          </a:xfrm>
          <a:prstGeom prst="blockArc">
            <a:avLst>
              <a:gd name="adj1" fmla="val 16200000"/>
              <a:gd name="adj2" fmla="val 15978060"/>
              <a:gd name="adj3" fmla="val 13000"/>
            </a:avLst>
          </a:prstGeom>
          <a:solidFill>
            <a:srgbClr val="2663EB"/>
          </a:solidFill>
          <a:ln w="12700">
            <a:solidFill>
              <a:srgbClr val="2663EB"/>
            </a:solidFill>
            <a:prstDash val="solid"/>
          </a:ln>
        </p:spPr>
      </p:sp>
      <p:sp>
        <p:nvSpPr>
          <p:cNvPr id="18" name="Text 16"/>
          <p:cNvSpPr txBox="1"/>
          <p:nvPr/>
        </p:nvSpPr>
        <p:spPr>
          <a:xfrm>
            <a:off x="1394460" y="3497580"/>
            <a:ext cx="868680" cy="868680"/>
          </a:xfrm>
          <a:prstGeom prst="rect">
            <a:avLst/>
          </a:prstGeom>
          <a:noFill/>
          <a:ln/>
        </p:spPr>
        <p:txBody>
          <a:bodyPr wrap="square" lIns="0" tIns="0" rIns="0" bIns="0" rtlCol="0" anchor="ctr"/>
          <a:lstStyle/>
          <a:p>
            <a:pPr algn="ctr" indent="0" marL="0">
              <a:buNone/>
            </a:pPr>
            <a:r>
              <a:rPr lang="en-US" sz="2300" b="1" dirty="0">
                <a:solidFill>
                  <a:srgbClr val="1C1C1E"/>
                </a:solidFill>
                <a:latin typeface="Barlow" pitchFamily="34" charset="0"/>
                <a:ea typeface="Barlow" pitchFamily="34" charset="-122"/>
                <a:cs typeface="Barlow" pitchFamily="34" charset="-120"/>
              </a:rPr>
              <a:t>99</a:t>
            </a:r>
            <a:endParaRPr lang="en-US" sz="2300" dirty="0"/>
          </a:p>
          <a:p>
            <a:pPr algn="ctr" indent="0" marL="0">
              <a:buNone/>
            </a:pPr>
            <a:r>
              <a:rPr lang="en-US" sz="900" dirty="0">
                <a:solidFill>
                  <a:srgbClr val="8A8A8E"/>
                </a:solidFill>
                <a:latin typeface="Inter" pitchFamily="34" charset="0"/>
                <a:ea typeface="Inter" pitchFamily="34" charset="-122"/>
                <a:cs typeface="Inter" pitchFamily="34" charset="-120"/>
              </a:rPr>
              <a:t>/ 100</a:t>
            </a:r>
            <a:endParaRPr lang="en-US" sz="2300" dirty="0"/>
          </a:p>
        </p:txBody>
      </p:sp>
      <p:sp>
        <p:nvSpPr>
          <p:cNvPr id="19" name="Text 17"/>
          <p:cNvSpPr txBox="1"/>
          <p:nvPr/>
        </p:nvSpPr>
        <p:spPr>
          <a:xfrm>
            <a:off x="1211580" y="4411980"/>
            <a:ext cx="1234440" cy="274320"/>
          </a:xfrm>
          <a:prstGeom prst="rect">
            <a:avLst/>
          </a:prstGeom>
          <a:noFill/>
          <a:ln/>
        </p:spPr>
        <p:txBody>
          <a:bodyPr wrap="square" lIns="0" tIns="0" rIns="0" bIns="0" rtlCol="0" anchor="ctr"/>
          <a:lstStyle/>
          <a:p>
            <a:pPr algn="ctr" indent="0" marL="0">
              <a:buNone/>
            </a:pPr>
            <a:r>
              <a:rPr lang="en-US" sz="1400" b="1" dirty="0">
                <a:solidFill>
                  <a:srgbClr val="1C1C1E"/>
                </a:solidFill>
                <a:latin typeface="Barlow" pitchFamily="34" charset="0"/>
                <a:ea typeface="Barlow" pitchFamily="34" charset="-122"/>
                <a:cs typeface="Barlow" pitchFamily="34" charset="-120"/>
              </a:rPr>
              <a:t>Safety</a:t>
            </a:r>
            <a:endParaRPr lang="en-US" sz="1400" dirty="0"/>
          </a:p>
        </p:txBody>
      </p:sp>
      <p:sp>
        <p:nvSpPr>
          <p:cNvPr id="20" name="Shape 18"/>
          <p:cNvSpPr/>
          <p:nvPr/>
        </p:nvSpPr>
        <p:spPr>
          <a:xfrm>
            <a:off x="3771900" y="3497580"/>
            <a:ext cx="868680" cy="868680"/>
          </a:xfrm>
          <a:prstGeom prst="donut">
            <a:avLst/>
          </a:prstGeom>
          <a:solidFill>
            <a:srgbClr val="D9F2E2"/>
          </a:solidFill>
          <a:ln w="12700">
            <a:solidFill>
              <a:srgbClr val="D9F2E2"/>
            </a:solidFill>
            <a:prstDash val="solid"/>
          </a:ln>
        </p:spPr>
      </p:sp>
      <p:sp>
        <p:nvSpPr>
          <p:cNvPr id="21" name="Shape 19"/>
          <p:cNvSpPr/>
          <p:nvPr/>
        </p:nvSpPr>
        <p:spPr>
          <a:xfrm>
            <a:off x="3771900" y="3497580"/>
            <a:ext cx="868680" cy="868680"/>
          </a:xfrm>
          <a:prstGeom prst="blockArc">
            <a:avLst>
              <a:gd name="adj1" fmla="val 16200000"/>
              <a:gd name="adj2" fmla="val 12091140"/>
              <a:gd name="adj3" fmla="val 13000"/>
            </a:avLst>
          </a:prstGeom>
          <a:solidFill>
            <a:srgbClr val="17A34A"/>
          </a:solidFill>
          <a:ln w="12700">
            <a:solidFill>
              <a:srgbClr val="17A34A"/>
            </a:solidFill>
            <a:prstDash val="solid"/>
          </a:ln>
        </p:spPr>
      </p:sp>
      <p:sp>
        <p:nvSpPr>
          <p:cNvPr id="22" name="Text 20"/>
          <p:cNvSpPr txBox="1"/>
          <p:nvPr/>
        </p:nvSpPr>
        <p:spPr>
          <a:xfrm>
            <a:off x="3771900" y="3497580"/>
            <a:ext cx="868680" cy="868680"/>
          </a:xfrm>
          <a:prstGeom prst="rect">
            <a:avLst/>
          </a:prstGeom>
          <a:noFill/>
          <a:ln/>
        </p:spPr>
        <p:txBody>
          <a:bodyPr wrap="square" lIns="0" tIns="0" rIns="0" bIns="0" rtlCol="0" anchor="ctr"/>
          <a:lstStyle/>
          <a:p>
            <a:pPr algn="ctr" indent="0" marL="0">
              <a:buNone/>
            </a:pPr>
            <a:r>
              <a:rPr lang="en-US" sz="2300" b="1" dirty="0">
                <a:solidFill>
                  <a:srgbClr val="1C1C1E"/>
                </a:solidFill>
                <a:latin typeface="Barlow" pitchFamily="34" charset="0"/>
                <a:ea typeface="Barlow" pitchFamily="34" charset="-122"/>
                <a:cs typeface="Barlow" pitchFamily="34" charset="-120"/>
              </a:rPr>
              <a:t>81</a:t>
            </a:r>
            <a:endParaRPr lang="en-US" sz="2300" dirty="0"/>
          </a:p>
          <a:p>
            <a:pPr algn="ctr" indent="0" marL="0">
              <a:buNone/>
            </a:pPr>
            <a:r>
              <a:rPr lang="en-US" sz="900" dirty="0">
                <a:solidFill>
                  <a:srgbClr val="8A8A8E"/>
                </a:solidFill>
                <a:latin typeface="Inter" pitchFamily="34" charset="0"/>
                <a:ea typeface="Inter" pitchFamily="34" charset="-122"/>
                <a:cs typeface="Inter" pitchFamily="34" charset="-120"/>
              </a:rPr>
              <a:t>/ 100</a:t>
            </a:r>
            <a:endParaRPr lang="en-US" sz="2300" dirty="0"/>
          </a:p>
        </p:txBody>
      </p:sp>
      <p:sp>
        <p:nvSpPr>
          <p:cNvPr id="23" name="Text 21"/>
          <p:cNvSpPr txBox="1"/>
          <p:nvPr/>
        </p:nvSpPr>
        <p:spPr>
          <a:xfrm>
            <a:off x="3589020" y="4411980"/>
            <a:ext cx="1234440" cy="274320"/>
          </a:xfrm>
          <a:prstGeom prst="rect">
            <a:avLst/>
          </a:prstGeom>
          <a:noFill/>
          <a:ln/>
        </p:spPr>
        <p:txBody>
          <a:bodyPr wrap="square" lIns="0" tIns="0" rIns="0" bIns="0" rtlCol="0" anchor="ctr"/>
          <a:lstStyle/>
          <a:p>
            <a:pPr algn="ctr" indent="0" marL="0">
              <a:buNone/>
            </a:pPr>
            <a:r>
              <a:rPr lang="en-US" sz="1400" b="1" dirty="0">
                <a:solidFill>
                  <a:srgbClr val="1C1C1E"/>
                </a:solidFill>
                <a:latin typeface="Barlow" pitchFamily="34" charset="0"/>
                <a:ea typeface="Barlow" pitchFamily="34" charset="-122"/>
                <a:cs typeface="Barlow" pitchFamily="34" charset="-120"/>
              </a:rPr>
              <a:t>Efficiency</a:t>
            </a:r>
            <a:endParaRPr lang="en-US" sz="1400" dirty="0"/>
          </a:p>
        </p:txBody>
      </p:sp>
      <p:pic>
        <p:nvPicPr>
          <p:cNvPr id="24" name="Image 0" descr="Driveby app screen">    </p:cNvPr>
          <p:cNvPicPr>
            <a:picLocks noChangeAspect="1"/>
          </p:cNvPicPr>
          <p:nvPr/>
        </p:nvPicPr>
        <p:blipFill>
          <a:blip r:embed="rId1"/>
          <a:stretch>
            <a:fillRect/>
          </a:stretch>
        </p:blipFill>
        <p:spPr>
          <a:xfrm>
            <a:off x="6675120" y="411480"/>
            <a:ext cx="1998497" cy="4343400"/>
          </a:xfrm>
          <a:prstGeom prst="rect">
            <a:avLst/>
          </a:prstGeom>
        </p:spPr>
      </p:pic>
      <p:sp>
        <p:nvSpPr>
          <p:cNvPr id="25" name="Shape 22"/>
          <p:cNvSpPr/>
          <p:nvPr/>
        </p:nvSpPr>
        <p:spPr>
          <a:xfrm>
            <a:off x="6675120" y="411480"/>
            <a:ext cx="1998497" cy="4343400"/>
          </a:xfrm>
          <a:prstGeom prst="roundRect">
            <a:avLst>
              <a:gd name="adj" fmla="val 9151"/>
            </a:avLst>
          </a:prstGeom>
          <a:ln w="12700">
            <a:solidFill>
              <a:srgbClr val="D1D1D6"/>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548640"/>
          </a:xfrm>
          <a:prstGeom prst="rect">
            <a:avLst/>
          </a:prstGeom>
          <a:noFill/>
          <a:ln/>
        </p:spPr>
        <p:txBody>
          <a:bodyPr wrap="square" lIns="0" tIns="0" rIns="0" bIns="0" rtlCol="0" anchor="ctr"/>
          <a:lstStyle/>
          <a:p>
            <a:pPr indent="0" marL="0">
              <a:buNone/>
            </a:pPr>
            <a:r>
              <a:rPr lang="en-US" sz="3200" b="1" dirty="0">
                <a:solidFill>
                  <a:srgbClr val="1C1C1E"/>
                </a:solidFill>
                <a:latin typeface="Barlow" pitchFamily="34" charset="0"/>
                <a:ea typeface="Barlow" pitchFamily="34" charset="-122"/>
                <a:cs typeface="Barlow" pitchFamily="34" charset="-120"/>
              </a:rPr>
              <a:t>Highlights</a:t>
            </a:r>
            <a:endParaRPr lang="en-US" sz="3200" dirty="0"/>
          </a:p>
        </p:txBody>
      </p:sp>
      <p:sp>
        <p:nvSpPr>
          <p:cNvPr id="3" name="Shape 1"/>
          <p:cNvSpPr/>
          <p:nvPr/>
        </p:nvSpPr>
        <p:spPr>
          <a:xfrm>
            <a:off x="457200" y="841248"/>
            <a:ext cx="822960" cy="274320"/>
          </a:xfrm>
          <a:prstGeom prst="roundRect">
            <a:avLst>
              <a:gd name="adj" fmla="val 50000"/>
            </a:avLst>
          </a:prstGeom>
          <a:solidFill>
            <a:srgbClr val="DCE6FB"/>
          </a:solidFill>
          <a:ln w="12700">
            <a:solidFill>
              <a:srgbClr val="DCE6FB"/>
            </a:solidFill>
            <a:prstDash val="solid"/>
          </a:ln>
        </p:spPr>
      </p:sp>
      <p:sp>
        <p:nvSpPr>
          <p:cNvPr id="4" name="Text 2"/>
          <p:cNvSpPr txBox="1"/>
          <p:nvPr/>
        </p:nvSpPr>
        <p:spPr>
          <a:xfrm>
            <a:off x="457200" y="841248"/>
            <a:ext cx="822960" cy="274320"/>
          </a:xfrm>
          <a:prstGeom prst="rect">
            <a:avLst/>
          </a:prstGeom>
          <a:noFill/>
          <a:ln/>
        </p:spPr>
        <p:txBody>
          <a:bodyPr wrap="square" lIns="0" tIns="0" rIns="0" bIns="0" rtlCol="0" anchor="ctr"/>
          <a:lstStyle/>
          <a:p>
            <a:pPr algn="ctr" indent="0" marL="0">
              <a:buNone/>
            </a:pPr>
            <a:r>
              <a:rPr lang="en-US" sz="1100" b="1" dirty="0">
                <a:solidFill>
                  <a:srgbClr val="2663EB"/>
                </a:solidFill>
                <a:latin typeface="Inter" pitchFamily="34" charset="0"/>
                <a:ea typeface="Inter" pitchFamily="34" charset="-122"/>
                <a:cs typeface="Inter" pitchFamily="34" charset="-120"/>
              </a:rPr>
              <a:t>Function</a:t>
            </a:r>
            <a:endParaRPr lang="en-US" sz="1100" dirty="0"/>
          </a:p>
        </p:txBody>
      </p:sp>
      <p:sp>
        <p:nvSpPr>
          <p:cNvPr id="5" name="Shape 3"/>
          <p:cNvSpPr/>
          <p:nvPr/>
        </p:nvSpPr>
        <p:spPr>
          <a:xfrm>
            <a:off x="457200" y="1325880"/>
            <a:ext cx="2606040" cy="1325880"/>
          </a:xfrm>
          <a:prstGeom prst="roundRect">
            <a:avLst>
              <a:gd name="adj" fmla="val 12414"/>
            </a:avLst>
          </a:prstGeom>
          <a:solidFill>
            <a:srgbClr val="FFFFFF"/>
          </a:solidFill>
          <a:ln w="12700">
            <a:solidFill>
              <a:srgbClr val="FFFFFF"/>
            </a:solidFill>
            <a:prstDash val="solid"/>
          </a:ln>
        </p:spPr>
      </p:sp>
      <p:sp>
        <p:nvSpPr>
          <p:cNvPr id="6" name="Shape 4"/>
          <p:cNvSpPr/>
          <p:nvPr/>
        </p:nvSpPr>
        <p:spPr>
          <a:xfrm>
            <a:off x="658368" y="1572768"/>
            <a:ext cx="182880" cy="182880"/>
          </a:xfrm>
          <a:prstGeom prst="ellipse">
            <a:avLst/>
          </a:prstGeom>
          <a:solidFill>
            <a:srgbClr val="0F766E"/>
          </a:solidFill>
          <a:ln w="12700">
            <a:solidFill>
              <a:srgbClr val="0F766E"/>
            </a:solidFill>
            <a:prstDash val="solid"/>
          </a:ln>
        </p:spPr>
      </p:sp>
      <p:sp>
        <p:nvSpPr>
          <p:cNvPr id="7" name="Text 5"/>
          <p:cNvSpPr txBox="1"/>
          <p:nvPr/>
        </p:nvSpPr>
        <p:spPr>
          <a:xfrm>
            <a:off x="932688" y="1490472"/>
            <a:ext cx="1965960" cy="347472"/>
          </a:xfrm>
          <a:prstGeom prst="rect">
            <a:avLst/>
          </a:prstGeom>
          <a:noFill/>
          <a:ln/>
        </p:spPr>
        <p:txBody>
          <a:bodyPr wrap="square" lIns="0" tIns="0" rIns="0" bIns="0" rtlCol="0" anchor="ctr"/>
          <a:lstStyle/>
          <a:p>
            <a:pPr indent="0" marL="0">
              <a:buNone/>
            </a:pPr>
            <a:r>
              <a:rPr lang="en-US" sz="1700" b="1" dirty="0">
                <a:solidFill>
                  <a:srgbClr val="1C1C1E"/>
                </a:solidFill>
                <a:latin typeface="Barlow" pitchFamily="34" charset="0"/>
                <a:ea typeface="Barlow" pitchFamily="34" charset="-122"/>
                <a:cs typeface="Barlow" pitchFamily="34" charset="-120"/>
              </a:rPr>
              <a:t>Live voice coach</a:t>
            </a:r>
            <a:endParaRPr lang="en-US" sz="1700" dirty="0"/>
          </a:p>
        </p:txBody>
      </p:sp>
      <p:sp>
        <p:nvSpPr>
          <p:cNvPr id="8" name="Text 6"/>
          <p:cNvSpPr txBox="1"/>
          <p:nvPr/>
        </p:nvSpPr>
        <p:spPr>
          <a:xfrm>
            <a:off x="658368" y="1892808"/>
            <a:ext cx="2203704" cy="640080"/>
          </a:xfrm>
          <a:prstGeom prst="rect">
            <a:avLst/>
          </a:prstGeom>
          <a:noFill/>
          <a:ln/>
        </p:spPr>
        <p:txBody>
          <a:bodyPr wrap="square" lIns="0" tIns="0" rIns="0" bIns="0" rtlCol="0" anchor="t"/>
          <a:lstStyle/>
          <a:p>
            <a:pPr indent="0" marL="0">
              <a:buNone/>
            </a:pPr>
            <a:r>
              <a:rPr lang="en-US" sz="1200" dirty="0">
                <a:solidFill>
                  <a:srgbClr val="8A8A8E"/>
                </a:solidFill>
                <a:latin typeface="Inter" pitchFamily="34" charset="0"/>
                <a:ea typeface="Inter" pitchFamily="34" charset="-122"/>
                <a:cs typeface="Inter" pitchFamily="34" charset="-120"/>
              </a:rPr>
              <a:t>Speaks up the moment you speed, brake hard or follow too close</a:t>
            </a:r>
            <a:endParaRPr lang="en-US" sz="1200" dirty="0"/>
          </a:p>
        </p:txBody>
      </p:sp>
      <p:sp>
        <p:nvSpPr>
          <p:cNvPr id="9" name="Shape 7"/>
          <p:cNvSpPr/>
          <p:nvPr/>
        </p:nvSpPr>
        <p:spPr>
          <a:xfrm>
            <a:off x="3264408" y="1325880"/>
            <a:ext cx="2606040" cy="1325880"/>
          </a:xfrm>
          <a:prstGeom prst="roundRect">
            <a:avLst>
              <a:gd name="adj" fmla="val 12414"/>
            </a:avLst>
          </a:prstGeom>
          <a:solidFill>
            <a:srgbClr val="FFFFFF"/>
          </a:solidFill>
          <a:ln w="12700">
            <a:solidFill>
              <a:srgbClr val="FFFFFF"/>
            </a:solidFill>
            <a:prstDash val="solid"/>
          </a:ln>
        </p:spPr>
      </p:sp>
      <p:sp>
        <p:nvSpPr>
          <p:cNvPr id="10" name="Shape 8"/>
          <p:cNvSpPr/>
          <p:nvPr/>
        </p:nvSpPr>
        <p:spPr>
          <a:xfrm>
            <a:off x="3465576" y="1572768"/>
            <a:ext cx="182880" cy="182880"/>
          </a:xfrm>
          <a:prstGeom prst="ellipse">
            <a:avLst/>
          </a:prstGeom>
          <a:solidFill>
            <a:srgbClr val="2663EB"/>
          </a:solidFill>
          <a:ln w="12700">
            <a:solidFill>
              <a:srgbClr val="2663EB"/>
            </a:solidFill>
            <a:prstDash val="solid"/>
          </a:ln>
        </p:spPr>
      </p:sp>
      <p:sp>
        <p:nvSpPr>
          <p:cNvPr id="11" name="Text 9"/>
          <p:cNvSpPr txBox="1"/>
          <p:nvPr/>
        </p:nvSpPr>
        <p:spPr>
          <a:xfrm>
            <a:off x="3739896" y="1490472"/>
            <a:ext cx="1965960" cy="347472"/>
          </a:xfrm>
          <a:prstGeom prst="rect">
            <a:avLst/>
          </a:prstGeom>
          <a:noFill/>
          <a:ln/>
        </p:spPr>
        <p:txBody>
          <a:bodyPr wrap="square" lIns="0" tIns="0" rIns="0" bIns="0" rtlCol="0" anchor="ctr"/>
          <a:lstStyle/>
          <a:p>
            <a:pPr indent="0" marL="0">
              <a:buNone/>
            </a:pPr>
            <a:r>
              <a:rPr lang="en-US" sz="1700" b="1" dirty="0">
                <a:solidFill>
                  <a:srgbClr val="1C1C1E"/>
                </a:solidFill>
                <a:latin typeface="Barlow" pitchFamily="34" charset="0"/>
                <a:ea typeface="Barlow" pitchFamily="34" charset="-122"/>
                <a:cs typeface="Barlow" pitchFamily="34" charset="-120"/>
              </a:rPr>
              <a:t>Drive scores</a:t>
            </a:r>
            <a:endParaRPr lang="en-US" sz="1700" dirty="0"/>
          </a:p>
        </p:txBody>
      </p:sp>
      <p:sp>
        <p:nvSpPr>
          <p:cNvPr id="12" name="Text 10"/>
          <p:cNvSpPr txBox="1"/>
          <p:nvPr/>
        </p:nvSpPr>
        <p:spPr>
          <a:xfrm>
            <a:off x="3465576" y="1892808"/>
            <a:ext cx="2203704" cy="640080"/>
          </a:xfrm>
          <a:prstGeom prst="rect">
            <a:avLst/>
          </a:prstGeom>
          <a:noFill/>
          <a:ln/>
        </p:spPr>
        <p:txBody>
          <a:bodyPr wrap="square" lIns="0" tIns="0" rIns="0" bIns="0" rtlCol="0" anchor="t"/>
          <a:lstStyle/>
          <a:p>
            <a:pPr indent="0" marL="0">
              <a:buNone/>
            </a:pPr>
            <a:r>
              <a:rPr lang="en-US" sz="1200" dirty="0">
                <a:solidFill>
                  <a:srgbClr val="8A8A8E"/>
                </a:solidFill>
                <a:latin typeface="Inter" pitchFamily="34" charset="0"/>
                <a:ea typeface="Inter" pitchFamily="34" charset="-122"/>
                <a:cs typeface="Inter" pitchFamily="34" charset="-120"/>
              </a:rPr>
              <a:t>Safety and efficiency scores after every drive</a:t>
            </a:r>
            <a:endParaRPr lang="en-US" sz="1200" dirty="0"/>
          </a:p>
        </p:txBody>
      </p:sp>
      <p:sp>
        <p:nvSpPr>
          <p:cNvPr id="13" name="Shape 11"/>
          <p:cNvSpPr/>
          <p:nvPr/>
        </p:nvSpPr>
        <p:spPr>
          <a:xfrm>
            <a:off x="6071616" y="1325880"/>
            <a:ext cx="2606040" cy="1325880"/>
          </a:xfrm>
          <a:prstGeom prst="roundRect">
            <a:avLst>
              <a:gd name="adj" fmla="val 12414"/>
            </a:avLst>
          </a:prstGeom>
          <a:solidFill>
            <a:srgbClr val="FFFFFF"/>
          </a:solidFill>
          <a:ln w="12700">
            <a:solidFill>
              <a:srgbClr val="FFFFFF"/>
            </a:solidFill>
            <a:prstDash val="solid"/>
          </a:ln>
        </p:spPr>
      </p:sp>
      <p:sp>
        <p:nvSpPr>
          <p:cNvPr id="14" name="Shape 12"/>
          <p:cNvSpPr/>
          <p:nvPr/>
        </p:nvSpPr>
        <p:spPr>
          <a:xfrm>
            <a:off x="6272784" y="1572768"/>
            <a:ext cx="182880" cy="182880"/>
          </a:xfrm>
          <a:prstGeom prst="ellipse">
            <a:avLst/>
          </a:prstGeom>
          <a:solidFill>
            <a:srgbClr val="EF4444"/>
          </a:solidFill>
          <a:ln w="12700">
            <a:solidFill>
              <a:srgbClr val="EF4444"/>
            </a:solidFill>
            <a:prstDash val="solid"/>
          </a:ln>
        </p:spPr>
      </p:sp>
      <p:sp>
        <p:nvSpPr>
          <p:cNvPr id="15" name="Text 13"/>
          <p:cNvSpPr txBox="1"/>
          <p:nvPr/>
        </p:nvSpPr>
        <p:spPr>
          <a:xfrm>
            <a:off x="6547104" y="1490472"/>
            <a:ext cx="1965960" cy="347472"/>
          </a:xfrm>
          <a:prstGeom prst="rect">
            <a:avLst/>
          </a:prstGeom>
          <a:noFill/>
          <a:ln/>
        </p:spPr>
        <p:txBody>
          <a:bodyPr wrap="square" lIns="0" tIns="0" rIns="0" bIns="0" rtlCol="0" anchor="ctr"/>
          <a:lstStyle/>
          <a:p>
            <a:pPr indent="0" marL="0">
              <a:buNone/>
            </a:pPr>
            <a:r>
              <a:rPr lang="en-US" sz="1700" b="1" dirty="0">
                <a:solidFill>
                  <a:srgbClr val="1C1C1E"/>
                </a:solidFill>
                <a:latin typeface="Barlow" pitchFamily="34" charset="0"/>
                <a:ea typeface="Barlow" pitchFamily="34" charset="-122"/>
                <a:cs typeface="Barlow" pitchFamily="34" charset="-120"/>
              </a:rPr>
              <a:t>Stop sign checks</a:t>
            </a:r>
            <a:endParaRPr lang="en-US" sz="1700" dirty="0"/>
          </a:p>
        </p:txBody>
      </p:sp>
      <p:sp>
        <p:nvSpPr>
          <p:cNvPr id="16" name="Text 14"/>
          <p:cNvSpPr txBox="1"/>
          <p:nvPr/>
        </p:nvSpPr>
        <p:spPr>
          <a:xfrm>
            <a:off x="6272784" y="1892808"/>
            <a:ext cx="2203704" cy="640080"/>
          </a:xfrm>
          <a:prstGeom prst="rect">
            <a:avLst/>
          </a:prstGeom>
          <a:noFill/>
          <a:ln/>
        </p:spPr>
        <p:txBody>
          <a:bodyPr wrap="square" lIns="0" tIns="0" rIns="0" bIns="0" rtlCol="0" anchor="t"/>
          <a:lstStyle/>
          <a:p>
            <a:pPr indent="0" marL="0">
              <a:buNone/>
            </a:pPr>
            <a:r>
              <a:rPr lang="en-US" sz="1200" dirty="0">
                <a:solidFill>
                  <a:srgbClr val="8A8A8E"/>
                </a:solidFill>
                <a:latin typeface="Inter" pitchFamily="34" charset="0"/>
                <a:ea typeface="Inter" pitchFamily="34" charset="-122"/>
                <a:cs typeface="Inter" pitchFamily="34" charset="-120"/>
              </a:rPr>
              <a:t>Every stop graded: full stop, rolling or missed</a:t>
            </a:r>
            <a:endParaRPr lang="en-US" sz="1200" dirty="0"/>
          </a:p>
        </p:txBody>
      </p:sp>
      <p:sp>
        <p:nvSpPr>
          <p:cNvPr id="17" name="Shape 15"/>
          <p:cNvSpPr/>
          <p:nvPr/>
        </p:nvSpPr>
        <p:spPr>
          <a:xfrm>
            <a:off x="457200" y="2852928"/>
            <a:ext cx="2606040" cy="1325880"/>
          </a:xfrm>
          <a:prstGeom prst="roundRect">
            <a:avLst>
              <a:gd name="adj" fmla="val 12414"/>
            </a:avLst>
          </a:prstGeom>
          <a:solidFill>
            <a:srgbClr val="FFFFFF"/>
          </a:solidFill>
          <a:ln w="12700">
            <a:solidFill>
              <a:srgbClr val="FFFFFF"/>
            </a:solidFill>
            <a:prstDash val="solid"/>
          </a:ln>
        </p:spPr>
      </p:sp>
      <p:sp>
        <p:nvSpPr>
          <p:cNvPr id="18" name="Shape 16"/>
          <p:cNvSpPr/>
          <p:nvPr/>
        </p:nvSpPr>
        <p:spPr>
          <a:xfrm>
            <a:off x="658368" y="3099816"/>
            <a:ext cx="182880" cy="182880"/>
          </a:xfrm>
          <a:prstGeom prst="ellipse">
            <a:avLst/>
          </a:prstGeom>
          <a:solidFill>
            <a:srgbClr val="17A34A"/>
          </a:solidFill>
          <a:ln w="12700">
            <a:solidFill>
              <a:srgbClr val="17A34A"/>
            </a:solidFill>
            <a:prstDash val="solid"/>
          </a:ln>
        </p:spPr>
      </p:sp>
      <p:sp>
        <p:nvSpPr>
          <p:cNvPr id="19" name="Text 17"/>
          <p:cNvSpPr txBox="1"/>
          <p:nvPr/>
        </p:nvSpPr>
        <p:spPr>
          <a:xfrm>
            <a:off x="932688" y="3017520"/>
            <a:ext cx="1965960" cy="347472"/>
          </a:xfrm>
          <a:prstGeom prst="rect">
            <a:avLst/>
          </a:prstGeom>
          <a:noFill/>
          <a:ln/>
        </p:spPr>
        <p:txBody>
          <a:bodyPr wrap="square" lIns="0" tIns="0" rIns="0" bIns="0" rtlCol="0" anchor="ctr"/>
          <a:lstStyle/>
          <a:p>
            <a:pPr indent="0" marL="0">
              <a:buNone/>
            </a:pPr>
            <a:r>
              <a:rPr lang="en-US" sz="1700" b="1" dirty="0">
                <a:solidFill>
                  <a:srgbClr val="1C1C1E"/>
                </a:solidFill>
                <a:latin typeface="Barlow" pitchFamily="34" charset="0"/>
                <a:ea typeface="Barlow" pitchFamily="34" charset="-122"/>
                <a:cs typeface="Barlow" pitchFamily="34" charset="-120"/>
              </a:rPr>
              <a:t>Permit hours</a:t>
            </a:r>
            <a:endParaRPr lang="en-US" sz="1700" dirty="0"/>
          </a:p>
        </p:txBody>
      </p:sp>
      <p:sp>
        <p:nvSpPr>
          <p:cNvPr id="20" name="Text 18"/>
          <p:cNvSpPr txBox="1"/>
          <p:nvPr/>
        </p:nvSpPr>
        <p:spPr>
          <a:xfrm>
            <a:off x="658368" y="3419856"/>
            <a:ext cx="2203704" cy="640080"/>
          </a:xfrm>
          <a:prstGeom prst="rect">
            <a:avLst/>
          </a:prstGeom>
          <a:noFill/>
          <a:ln/>
        </p:spPr>
        <p:txBody>
          <a:bodyPr wrap="square" lIns="0" tIns="0" rIns="0" bIns="0" rtlCol="0" anchor="t"/>
          <a:lstStyle/>
          <a:p>
            <a:pPr indent="0" marL="0">
              <a:buNone/>
            </a:pPr>
            <a:r>
              <a:rPr lang="en-US" sz="1200" dirty="0">
                <a:solidFill>
                  <a:srgbClr val="8A8A8E"/>
                </a:solidFill>
                <a:latin typeface="Inter" pitchFamily="34" charset="0"/>
                <a:ea typeface="Inter" pitchFamily="34" charset="-122"/>
                <a:cs typeface="Inter" pitchFamily="34" charset="-120"/>
              </a:rPr>
              <a:t>Logs supervised and night hours, exports a PDF to sign</a:t>
            </a:r>
            <a:endParaRPr lang="en-US" sz="1200" dirty="0"/>
          </a:p>
        </p:txBody>
      </p:sp>
      <p:sp>
        <p:nvSpPr>
          <p:cNvPr id="21" name="Shape 19"/>
          <p:cNvSpPr/>
          <p:nvPr/>
        </p:nvSpPr>
        <p:spPr>
          <a:xfrm>
            <a:off x="3264408" y="2852928"/>
            <a:ext cx="2606040" cy="1325880"/>
          </a:xfrm>
          <a:prstGeom prst="roundRect">
            <a:avLst>
              <a:gd name="adj" fmla="val 12414"/>
            </a:avLst>
          </a:prstGeom>
          <a:solidFill>
            <a:srgbClr val="FFFFFF"/>
          </a:solidFill>
          <a:ln w="12700">
            <a:solidFill>
              <a:srgbClr val="FFFFFF"/>
            </a:solidFill>
            <a:prstDash val="solid"/>
          </a:ln>
        </p:spPr>
      </p:sp>
      <p:sp>
        <p:nvSpPr>
          <p:cNvPr id="22" name="Shape 20"/>
          <p:cNvSpPr/>
          <p:nvPr/>
        </p:nvSpPr>
        <p:spPr>
          <a:xfrm>
            <a:off x="3465576" y="3099816"/>
            <a:ext cx="182880" cy="182880"/>
          </a:xfrm>
          <a:prstGeom prst="ellipse">
            <a:avLst/>
          </a:prstGeom>
          <a:solidFill>
            <a:srgbClr val="C2410C"/>
          </a:solidFill>
          <a:ln w="12700">
            <a:solidFill>
              <a:srgbClr val="C2410C"/>
            </a:solidFill>
            <a:prstDash val="solid"/>
          </a:ln>
        </p:spPr>
      </p:sp>
      <p:sp>
        <p:nvSpPr>
          <p:cNvPr id="23" name="Text 21"/>
          <p:cNvSpPr txBox="1"/>
          <p:nvPr/>
        </p:nvSpPr>
        <p:spPr>
          <a:xfrm>
            <a:off x="3739896" y="3017520"/>
            <a:ext cx="1965960" cy="347472"/>
          </a:xfrm>
          <a:prstGeom prst="rect">
            <a:avLst/>
          </a:prstGeom>
          <a:noFill/>
          <a:ln/>
        </p:spPr>
        <p:txBody>
          <a:bodyPr wrap="square" lIns="0" tIns="0" rIns="0" bIns="0" rtlCol="0" anchor="ctr"/>
          <a:lstStyle/>
          <a:p>
            <a:pPr indent="0" marL="0">
              <a:buNone/>
            </a:pPr>
            <a:r>
              <a:rPr lang="en-US" sz="1700" b="1" dirty="0">
                <a:solidFill>
                  <a:srgbClr val="1C1C1E"/>
                </a:solidFill>
                <a:latin typeface="Barlow" pitchFamily="34" charset="0"/>
                <a:ea typeface="Barlow" pitchFamily="34" charset="-122"/>
                <a:cs typeface="Barlow" pitchFamily="34" charset="-120"/>
              </a:rPr>
              <a:t>Paper log scan</a:t>
            </a:r>
            <a:endParaRPr lang="en-US" sz="1700" dirty="0"/>
          </a:p>
        </p:txBody>
      </p:sp>
      <p:sp>
        <p:nvSpPr>
          <p:cNvPr id="24" name="Text 22"/>
          <p:cNvSpPr txBox="1"/>
          <p:nvPr/>
        </p:nvSpPr>
        <p:spPr>
          <a:xfrm>
            <a:off x="3465576" y="3419856"/>
            <a:ext cx="2203704" cy="640080"/>
          </a:xfrm>
          <a:prstGeom prst="rect">
            <a:avLst/>
          </a:prstGeom>
          <a:noFill/>
          <a:ln/>
        </p:spPr>
        <p:txBody>
          <a:bodyPr wrap="square" lIns="0" tIns="0" rIns="0" bIns="0" rtlCol="0" anchor="t"/>
          <a:lstStyle/>
          <a:p>
            <a:pPr indent="0" marL="0">
              <a:buNone/>
            </a:pPr>
            <a:r>
              <a:rPr lang="en-US" sz="1200" dirty="0">
                <a:solidFill>
                  <a:srgbClr val="8A8A8E"/>
                </a:solidFill>
                <a:latin typeface="Inter" pitchFamily="34" charset="0"/>
                <a:ea typeface="Inter" pitchFamily="34" charset="-122"/>
                <a:cs typeface="Inter" pitchFamily="34" charset="-120"/>
              </a:rPr>
              <a:t>Snap a photo of an old paper log to add those hours</a:t>
            </a:r>
            <a:endParaRPr lang="en-US" sz="1200" dirty="0"/>
          </a:p>
        </p:txBody>
      </p:sp>
      <p:sp>
        <p:nvSpPr>
          <p:cNvPr id="25" name="Shape 23"/>
          <p:cNvSpPr/>
          <p:nvPr/>
        </p:nvSpPr>
        <p:spPr>
          <a:xfrm>
            <a:off x="6071616" y="2852928"/>
            <a:ext cx="2606040" cy="1325880"/>
          </a:xfrm>
          <a:prstGeom prst="roundRect">
            <a:avLst>
              <a:gd name="adj" fmla="val 12414"/>
            </a:avLst>
          </a:prstGeom>
          <a:solidFill>
            <a:srgbClr val="FFFFFF"/>
          </a:solidFill>
          <a:ln w="12700">
            <a:solidFill>
              <a:srgbClr val="FFFFFF"/>
            </a:solidFill>
            <a:prstDash val="solid"/>
          </a:ln>
        </p:spPr>
      </p:sp>
      <p:sp>
        <p:nvSpPr>
          <p:cNvPr id="26" name="Shape 24"/>
          <p:cNvSpPr/>
          <p:nvPr/>
        </p:nvSpPr>
        <p:spPr>
          <a:xfrm>
            <a:off x="6272784" y="3099816"/>
            <a:ext cx="182880" cy="182880"/>
          </a:xfrm>
          <a:prstGeom prst="ellipse">
            <a:avLst/>
          </a:prstGeom>
          <a:solidFill>
            <a:srgbClr val="7C3AED"/>
          </a:solidFill>
          <a:ln w="12700">
            <a:solidFill>
              <a:srgbClr val="7C3AED"/>
            </a:solidFill>
            <a:prstDash val="solid"/>
          </a:ln>
        </p:spPr>
      </p:sp>
      <p:sp>
        <p:nvSpPr>
          <p:cNvPr id="27" name="Text 25"/>
          <p:cNvSpPr txBox="1"/>
          <p:nvPr/>
        </p:nvSpPr>
        <p:spPr>
          <a:xfrm>
            <a:off x="6547104" y="3017520"/>
            <a:ext cx="1965960" cy="347472"/>
          </a:xfrm>
          <a:prstGeom prst="rect">
            <a:avLst/>
          </a:prstGeom>
          <a:noFill/>
          <a:ln/>
        </p:spPr>
        <p:txBody>
          <a:bodyPr wrap="square" lIns="0" tIns="0" rIns="0" bIns="0" rtlCol="0" anchor="ctr"/>
          <a:lstStyle/>
          <a:p>
            <a:pPr indent="0" marL="0">
              <a:buNone/>
            </a:pPr>
            <a:r>
              <a:rPr lang="en-US" sz="1700" b="1" dirty="0">
                <a:solidFill>
                  <a:srgbClr val="1C1C1E"/>
                </a:solidFill>
                <a:latin typeface="Barlow" pitchFamily="34" charset="0"/>
                <a:ea typeface="Barlow" pitchFamily="34" charset="-122"/>
                <a:cs typeface="Barlow" pitchFamily="34" charset="-120"/>
              </a:rPr>
              <a:t>Privacy first</a:t>
            </a:r>
            <a:endParaRPr lang="en-US" sz="1700" dirty="0"/>
          </a:p>
        </p:txBody>
      </p:sp>
      <p:sp>
        <p:nvSpPr>
          <p:cNvPr id="28" name="Text 26"/>
          <p:cNvSpPr txBox="1"/>
          <p:nvPr/>
        </p:nvSpPr>
        <p:spPr>
          <a:xfrm>
            <a:off x="6272784" y="3419856"/>
            <a:ext cx="2203704" cy="640080"/>
          </a:xfrm>
          <a:prstGeom prst="rect">
            <a:avLst/>
          </a:prstGeom>
          <a:noFill/>
          <a:ln/>
        </p:spPr>
        <p:txBody>
          <a:bodyPr wrap="square" lIns="0" tIns="0" rIns="0" bIns="0" rtlCol="0" anchor="t"/>
          <a:lstStyle/>
          <a:p>
            <a:pPr indent="0" marL="0">
              <a:buNone/>
            </a:pPr>
            <a:r>
              <a:rPr lang="en-US" sz="1200" dirty="0">
                <a:solidFill>
                  <a:srgbClr val="8A8A8E"/>
                </a:solidFill>
                <a:latin typeface="Inter" pitchFamily="34" charset="0"/>
                <a:ea typeface="Inter" pitchFamily="34" charset="-122"/>
                <a:cs typeface="Inter" pitchFamily="34" charset="-120"/>
              </a:rPr>
              <a:t>Faces and plates are blurred on the phone before saving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548640"/>
          </a:xfrm>
          <a:prstGeom prst="rect">
            <a:avLst/>
          </a:prstGeom>
          <a:noFill/>
          <a:ln/>
        </p:spPr>
        <p:txBody>
          <a:bodyPr wrap="square" lIns="0" tIns="0" rIns="0" bIns="0" rtlCol="0" anchor="ctr"/>
          <a:lstStyle/>
          <a:p>
            <a:pPr indent="0" marL="0">
              <a:buNone/>
            </a:pPr>
            <a:r>
              <a:rPr lang="en-US" sz="3200" b="1" dirty="0">
                <a:solidFill>
                  <a:srgbClr val="1C1C1E"/>
                </a:solidFill>
                <a:latin typeface="Barlow" pitchFamily="34" charset="0"/>
                <a:ea typeface="Barlow" pitchFamily="34" charset="-122"/>
                <a:cs typeface="Barlow" pitchFamily="34" charset="-120"/>
              </a:rPr>
              <a:t>Map</a:t>
            </a:r>
            <a:endParaRPr lang="en-US" sz="3200" dirty="0"/>
          </a:p>
        </p:txBody>
      </p:sp>
      <p:sp>
        <p:nvSpPr>
          <p:cNvPr id="3" name="Shape 1"/>
          <p:cNvSpPr/>
          <p:nvPr/>
        </p:nvSpPr>
        <p:spPr>
          <a:xfrm>
            <a:off x="457200" y="841248"/>
            <a:ext cx="822960" cy="274320"/>
          </a:xfrm>
          <a:prstGeom prst="roundRect">
            <a:avLst>
              <a:gd name="adj" fmla="val 50000"/>
            </a:avLst>
          </a:prstGeom>
          <a:solidFill>
            <a:srgbClr val="DCE6FB"/>
          </a:solidFill>
          <a:ln w="12700">
            <a:solidFill>
              <a:srgbClr val="DCE6FB"/>
            </a:solidFill>
            <a:prstDash val="solid"/>
          </a:ln>
        </p:spPr>
      </p:sp>
      <p:sp>
        <p:nvSpPr>
          <p:cNvPr id="4" name="Text 2"/>
          <p:cNvSpPr txBox="1"/>
          <p:nvPr/>
        </p:nvSpPr>
        <p:spPr>
          <a:xfrm>
            <a:off x="457200" y="841248"/>
            <a:ext cx="822960" cy="274320"/>
          </a:xfrm>
          <a:prstGeom prst="rect">
            <a:avLst/>
          </a:prstGeom>
          <a:noFill/>
          <a:ln/>
        </p:spPr>
        <p:txBody>
          <a:bodyPr wrap="square" lIns="0" tIns="0" rIns="0" bIns="0" rtlCol="0" anchor="ctr"/>
          <a:lstStyle/>
          <a:p>
            <a:pPr algn="ctr" indent="0" marL="0">
              <a:buNone/>
            </a:pPr>
            <a:r>
              <a:rPr lang="en-US" sz="1100" b="1" dirty="0">
                <a:solidFill>
                  <a:srgbClr val="2663EB"/>
                </a:solidFill>
                <a:latin typeface="Inter" pitchFamily="34" charset="0"/>
                <a:ea typeface="Inter" pitchFamily="34" charset="-122"/>
                <a:cs typeface="Inter" pitchFamily="34" charset="-120"/>
              </a:rPr>
              <a:t>Function</a:t>
            </a:r>
            <a:endParaRPr lang="en-US" sz="1100" dirty="0"/>
          </a:p>
        </p:txBody>
      </p:sp>
      <p:pic>
        <p:nvPicPr>
          <p:cNvPr id="5" name="Image 0" descr="Driveby app screen">    </p:cNvPr>
          <p:cNvPicPr>
            <a:picLocks noChangeAspect="1"/>
          </p:cNvPicPr>
          <p:nvPr/>
        </p:nvPicPr>
        <p:blipFill>
          <a:blip r:embed="rId1"/>
          <a:stretch>
            <a:fillRect/>
          </a:stretch>
        </p:blipFill>
        <p:spPr>
          <a:xfrm>
            <a:off x="457200" y="1280160"/>
            <a:ext cx="1661908" cy="3611880"/>
          </a:xfrm>
          <a:prstGeom prst="rect">
            <a:avLst/>
          </a:prstGeom>
        </p:spPr>
      </p:pic>
      <p:sp>
        <p:nvSpPr>
          <p:cNvPr id="6" name="Shape 3"/>
          <p:cNvSpPr/>
          <p:nvPr/>
        </p:nvSpPr>
        <p:spPr>
          <a:xfrm>
            <a:off x="457200" y="1280160"/>
            <a:ext cx="1661908" cy="3611880"/>
          </a:xfrm>
          <a:prstGeom prst="roundRect">
            <a:avLst>
              <a:gd name="adj" fmla="val 11004"/>
            </a:avLst>
          </a:prstGeom>
          <a:ln w="12700">
            <a:solidFill>
              <a:srgbClr val="D1D1D6"/>
            </a:solidFill>
            <a:prstDash val="solid"/>
          </a:ln>
        </p:spPr>
      </p:sp>
      <p:pic>
        <p:nvPicPr>
          <p:cNvPr id="7" name="Image 1" descr="Driveby app screen">    </p:cNvPr>
          <p:cNvPicPr>
            <a:picLocks noChangeAspect="1"/>
          </p:cNvPicPr>
          <p:nvPr/>
        </p:nvPicPr>
        <p:blipFill>
          <a:blip r:embed="rId2"/>
          <a:stretch>
            <a:fillRect/>
          </a:stretch>
        </p:blipFill>
        <p:spPr>
          <a:xfrm>
            <a:off x="2240280" y="1280160"/>
            <a:ext cx="1661908" cy="3611880"/>
          </a:xfrm>
          <a:prstGeom prst="rect">
            <a:avLst/>
          </a:prstGeom>
        </p:spPr>
      </p:pic>
      <p:sp>
        <p:nvSpPr>
          <p:cNvPr id="8" name="Shape 4"/>
          <p:cNvSpPr/>
          <p:nvPr/>
        </p:nvSpPr>
        <p:spPr>
          <a:xfrm>
            <a:off x="2240280" y="1280160"/>
            <a:ext cx="1661908" cy="3611880"/>
          </a:xfrm>
          <a:prstGeom prst="roundRect">
            <a:avLst>
              <a:gd name="adj" fmla="val 11004"/>
            </a:avLst>
          </a:prstGeom>
          <a:ln w="12700">
            <a:solidFill>
              <a:srgbClr val="D1D1D6"/>
            </a:solidFill>
            <a:prstDash val="solid"/>
          </a:ln>
        </p:spPr>
      </p:sp>
      <p:sp>
        <p:nvSpPr>
          <p:cNvPr id="9" name="Shape 5"/>
          <p:cNvSpPr/>
          <p:nvPr/>
        </p:nvSpPr>
        <p:spPr>
          <a:xfrm>
            <a:off x="4069080" y="1280160"/>
            <a:ext cx="4709160" cy="2194560"/>
          </a:xfrm>
          <a:prstGeom prst="roundRect">
            <a:avLst>
              <a:gd name="adj" fmla="val 7500"/>
            </a:avLst>
          </a:prstGeom>
          <a:solidFill>
            <a:srgbClr val="FFFFFF"/>
          </a:solidFill>
          <a:ln w="12700">
            <a:solidFill>
              <a:srgbClr val="FFFFFF"/>
            </a:solidFill>
            <a:prstDash val="solid"/>
          </a:ln>
        </p:spPr>
      </p:sp>
      <p:sp>
        <p:nvSpPr>
          <p:cNvPr id="10" name="Text 6"/>
          <p:cNvSpPr txBox="1"/>
          <p:nvPr/>
        </p:nvSpPr>
        <p:spPr>
          <a:xfrm>
            <a:off x="4251960" y="1371600"/>
            <a:ext cx="434340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On the map</a:t>
            </a:r>
            <a:endParaRPr lang="en-US" sz="1500" dirty="0"/>
          </a:p>
        </p:txBody>
      </p:sp>
      <p:sp>
        <p:nvSpPr>
          <p:cNvPr id="11" name="Shape 7"/>
          <p:cNvSpPr/>
          <p:nvPr/>
        </p:nvSpPr>
        <p:spPr>
          <a:xfrm>
            <a:off x="4288536" y="1837944"/>
            <a:ext cx="109728" cy="109728"/>
          </a:xfrm>
          <a:prstGeom prst="ellipse">
            <a:avLst/>
          </a:prstGeom>
          <a:solidFill>
            <a:srgbClr val="2663EB"/>
          </a:solidFill>
          <a:ln w="12700">
            <a:solidFill>
              <a:srgbClr val="2663EB"/>
            </a:solidFill>
            <a:prstDash val="solid"/>
          </a:ln>
        </p:spPr>
      </p:sp>
      <p:sp>
        <p:nvSpPr>
          <p:cNvPr id="12" name="Text 8"/>
          <p:cNvSpPr txBox="1"/>
          <p:nvPr/>
        </p:nvSpPr>
        <p:spPr>
          <a:xfrm>
            <a:off x="4507992" y="1737360"/>
            <a:ext cx="411480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Every drive drawn with its moments</a:t>
            </a:r>
            <a:endParaRPr lang="en-US" sz="1300" dirty="0"/>
          </a:p>
        </p:txBody>
      </p:sp>
      <p:sp>
        <p:nvSpPr>
          <p:cNvPr id="13" name="Shape 9"/>
          <p:cNvSpPr/>
          <p:nvPr/>
        </p:nvSpPr>
        <p:spPr>
          <a:xfrm>
            <a:off x="4288536" y="2167128"/>
            <a:ext cx="109728" cy="109728"/>
          </a:xfrm>
          <a:prstGeom prst="ellipse">
            <a:avLst/>
          </a:prstGeom>
          <a:solidFill>
            <a:srgbClr val="2663EB"/>
          </a:solidFill>
          <a:ln w="12700">
            <a:solidFill>
              <a:srgbClr val="2663EB"/>
            </a:solidFill>
            <a:prstDash val="solid"/>
          </a:ln>
        </p:spPr>
      </p:sp>
      <p:sp>
        <p:nvSpPr>
          <p:cNvPr id="14" name="Text 10"/>
          <p:cNvSpPr txBox="1"/>
          <p:nvPr/>
        </p:nvSpPr>
        <p:spPr>
          <a:xfrm>
            <a:off x="4507992" y="2066544"/>
            <a:ext cx="411480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Hazard map: where drivers brake hardest</a:t>
            </a:r>
            <a:endParaRPr lang="en-US" sz="1300" dirty="0"/>
          </a:p>
        </p:txBody>
      </p:sp>
      <p:sp>
        <p:nvSpPr>
          <p:cNvPr id="15" name="Shape 11"/>
          <p:cNvSpPr/>
          <p:nvPr/>
        </p:nvSpPr>
        <p:spPr>
          <a:xfrm>
            <a:off x="4288536" y="2496312"/>
            <a:ext cx="109728" cy="109728"/>
          </a:xfrm>
          <a:prstGeom prst="ellipse">
            <a:avLst/>
          </a:prstGeom>
          <a:solidFill>
            <a:srgbClr val="2663EB"/>
          </a:solidFill>
          <a:ln w="12700">
            <a:solidFill>
              <a:srgbClr val="2663EB"/>
            </a:solidFill>
            <a:prstDash val="solid"/>
          </a:ln>
        </p:spPr>
      </p:sp>
      <p:sp>
        <p:nvSpPr>
          <p:cNvPr id="16" name="Text 12"/>
          <p:cNvSpPr txBox="1"/>
          <p:nvPr/>
        </p:nvSpPr>
        <p:spPr>
          <a:xfrm>
            <a:off x="4507992" y="2395728"/>
            <a:ext cx="411480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A spot publishes after 5 events from 3 drivers</a:t>
            </a:r>
            <a:endParaRPr lang="en-US" sz="1300" dirty="0"/>
          </a:p>
        </p:txBody>
      </p:sp>
      <p:sp>
        <p:nvSpPr>
          <p:cNvPr id="17" name="Shape 13"/>
          <p:cNvSpPr/>
          <p:nvPr/>
        </p:nvSpPr>
        <p:spPr>
          <a:xfrm>
            <a:off x="4288536" y="2825496"/>
            <a:ext cx="109728" cy="109728"/>
          </a:xfrm>
          <a:prstGeom prst="ellipse">
            <a:avLst/>
          </a:prstGeom>
          <a:solidFill>
            <a:srgbClr val="2663EB"/>
          </a:solidFill>
          <a:ln w="12700">
            <a:solidFill>
              <a:srgbClr val="2663EB"/>
            </a:solidFill>
            <a:prstDash val="solid"/>
          </a:ln>
        </p:spPr>
      </p:sp>
      <p:sp>
        <p:nvSpPr>
          <p:cNvPr id="18" name="Text 14"/>
          <p:cNvSpPr txBox="1"/>
          <p:nvPr/>
        </p:nvSpPr>
        <p:spPr>
          <a:xfrm>
            <a:off x="4507992" y="2724912"/>
            <a:ext cx="411480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Your own contributions stay private</a:t>
            </a:r>
            <a:endParaRPr lang="en-US" sz="1300" dirty="0"/>
          </a:p>
        </p:txBody>
      </p:sp>
      <p:sp>
        <p:nvSpPr>
          <p:cNvPr id="19" name="Shape 15"/>
          <p:cNvSpPr/>
          <p:nvPr/>
        </p:nvSpPr>
        <p:spPr>
          <a:xfrm>
            <a:off x="4288536" y="3154680"/>
            <a:ext cx="109728" cy="109728"/>
          </a:xfrm>
          <a:prstGeom prst="ellipse">
            <a:avLst/>
          </a:prstGeom>
          <a:solidFill>
            <a:srgbClr val="2663EB"/>
          </a:solidFill>
          <a:ln w="12700">
            <a:solidFill>
              <a:srgbClr val="2663EB"/>
            </a:solidFill>
            <a:prstDash val="solid"/>
          </a:ln>
        </p:spPr>
      </p:sp>
      <p:sp>
        <p:nvSpPr>
          <p:cNvPr id="20" name="Text 16"/>
          <p:cNvSpPr txBox="1"/>
          <p:nvPr/>
        </p:nvSpPr>
        <p:spPr>
          <a:xfrm>
            <a:off x="4507992" y="3054096"/>
            <a:ext cx="411480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Export GeoJSON for VDOT and county GIS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548640"/>
          </a:xfrm>
          <a:prstGeom prst="rect">
            <a:avLst/>
          </a:prstGeom>
          <a:noFill/>
          <a:ln/>
        </p:spPr>
        <p:txBody>
          <a:bodyPr wrap="square" lIns="0" tIns="0" rIns="0" bIns="0" rtlCol="0" anchor="ctr"/>
          <a:lstStyle/>
          <a:p>
            <a:pPr indent="0" marL="0">
              <a:buNone/>
            </a:pPr>
            <a:r>
              <a:rPr lang="en-US" sz="3200" b="1" dirty="0">
                <a:solidFill>
                  <a:srgbClr val="1C1C1E"/>
                </a:solidFill>
                <a:latin typeface="Barlow" pitchFamily="34" charset="0"/>
                <a:ea typeface="Barlow" pitchFamily="34" charset="-122"/>
                <a:cs typeface="Barlow" pitchFamily="34" charset="-120"/>
              </a:rPr>
              <a:t>Design</a:t>
            </a:r>
            <a:endParaRPr lang="en-US" sz="3200" dirty="0"/>
          </a:p>
        </p:txBody>
      </p:sp>
      <p:sp>
        <p:nvSpPr>
          <p:cNvPr id="3" name="Shape 1"/>
          <p:cNvSpPr/>
          <p:nvPr/>
        </p:nvSpPr>
        <p:spPr>
          <a:xfrm>
            <a:off x="457200" y="841248"/>
            <a:ext cx="356616" cy="274320"/>
          </a:xfrm>
          <a:prstGeom prst="roundRect">
            <a:avLst>
              <a:gd name="adj" fmla="val 50000"/>
            </a:avLst>
          </a:prstGeom>
          <a:solidFill>
            <a:srgbClr val="D9F2E2"/>
          </a:solidFill>
          <a:ln w="12700">
            <a:solidFill>
              <a:srgbClr val="D9F2E2"/>
            </a:solidFill>
            <a:prstDash val="solid"/>
          </a:ln>
        </p:spPr>
      </p:sp>
      <p:sp>
        <p:nvSpPr>
          <p:cNvPr id="4" name="Text 2"/>
          <p:cNvSpPr txBox="1"/>
          <p:nvPr/>
        </p:nvSpPr>
        <p:spPr>
          <a:xfrm>
            <a:off x="457200" y="841248"/>
            <a:ext cx="356616" cy="274320"/>
          </a:xfrm>
          <a:prstGeom prst="rect">
            <a:avLst/>
          </a:prstGeom>
          <a:noFill/>
          <a:ln/>
        </p:spPr>
        <p:txBody>
          <a:bodyPr wrap="square" lIns="0" tIns="0" rIns="0" bIns="0" rtlCol="0" anchor="ctr"/>
          <a:lstStyle/>
          <a:p>
            <a:pPr algn="ctr" indent="0" marL="0">
              <a:buNone/>
            </a:pPr>
            <a:r>
              <a:rPr lang="en-US" sz="1100" b="1" dirty="0">
                <a:solidFill>
                  <a:srgbClr val="17A34A"/>
                </a:solidFill>
                <a:latin typeface="Inter" pitchFamily="34" charset="0"/>
                <a:ea typeface="Inter" pitchFamily="34" charset="-122"/>
                <a:cs typeface="Inter" pitchFamily="34" charset="-120"/>
              </a:rPr>
              <a:t>UI</a:t>
            </a:r>
            <a:endParaRPr lang="en-US" sz="1100" dirty="0"/>
          </a:p>
        </p:txBody>
      </p:sp>
      <p:pic>
        <p:nvPicPr>
          <p:cNvPr id="5" name="Image 0" descr="Driveby app screen">    </p:cNvPr>
          <p:cNvPicPr>
            <a:picLocks noChangeAspect="1"/>
          </p:cNvPicPr>
          <p:nvPr/>
        </p:nvPicPr>
        <p:blipFill>
          <a:blip r:embed="rId1"/>
          <a:stretch>
            <a:fillRect/>
          </a:stretch>
        </p:blipFill>
        <p:spPr>
          <a:xfrm>
            <a:off x="457200" y="1280160"/>
            <a:ext cx="1514650" cy="3291840"/>
          </a:xfrm>
          <a:prstGeom prst="rect">
            <a:avLst/>
          </a:prstGeom>
        </p:spPr>
      </p:pic>
      <p:sp>
        <p:nvSpPr>
          <p:cNvPr id="6" name="Shape 3"/>
          <p:cNvSpPr/>
          <p:nvPr/>
        </p:nvSpPr>
        <p:spPr>
          <a:xfrm>
            <a:off x="457200" y="1280160"/>
            <a:ext cx="1514650" cy="3291840"/>
          </a:xfrm>
          <a:prstGeom prst="roundRect">
            <a:avLst>
              <a:gd name="adj" fmla="val 12074"/>
            </a:avLst>
          </a:prstGeom>
          <a:ln w="12700">
            <a:solidFill>
              <a:srgbClr val="D1D1D6"/>
            </a:solidFill>
            <a:prstDash val="solid"/>
          </a:ln>
        </p:spPr>
      </p:sp>
      <p:pic>
        <p:nvPicPr>
          <p:cNvPr id="7" name="Image 1" descr="Driveby app screen">    </p:cNvPr>
          <p:cNvPicPr>
            <a:picLocks noChangeAspect="1"/>
          </p:cNvPicPr>
          <p:nvPr/>
        </p:nvPicPr>
        <p:blipFill>
          <a:blip r:embed="rId2"/>
          <a:stretch>
            <a:fillRect/>
          </a:stretch>
        </p:blipFill>
        <p:spPr>
          <a:xfrm>
            <a:off x="2029968" y="1280160"/>
            <a:ext cx="1514650" cy="3291840"/>
          </a:xfrm>
          <a:prstGeom prst="rect">
            <a:avLst/>
          </a:prstGeom>
        </p:spPr>
      </p:pic>
      <p:sp>
        <p:nvSpPr>
          <p:cNvPr id="8" name="Shape 4"/>
          <p:cNvSpPr/>
          <p:nvPr/>
        </p:nvSpPr>
        <p:spPr>
          <a:xfrm>
            <a:off x="2029968" y="1280160"/>
            <a:ext cx="1514650" cy="3291840"/>
          </a:xfrm>
          <a:prstGeom prst="roundRect">
            <a:avLst>
              <a:gd name="adj" fmla="val 12074"/>
            </a:avLst>
          </a:prstGeom>
          <a:ln w="12700">
            <a:solidFill>
              <a:srgbClr val="D1D1D6"/>
            </a:solidFill>
            <a:prstDash val="solid"/>
          </a:ln>
        </p:spPr>
      </p:sp>
      <p:pic>
        <p:nvPicPr>
          <p:cNvPr id="9" name="Image 2" descr="Driveby app screen">    </p:cNvPr>
          <p:cNvPicPr>
            <a:picLocks noChangeAspect="1"/>
          </p:cNvPicPr>
          <p:nvPr/>
        </p:nvPicPr>
        <p:blipFill>
          <a:blip r:embed="rId3"/>
          <a:stretch>
            <a:fillRect/>
          </a:stretch>
        </p:blipFill>
        <p:spPr>
          <a:xfrm>
            <a:off x="3602736" y="1280160"/>
            <a:ext cx="1514650" cy="3291840"/>
          </a:xfrm>
          <a:prstGeom prst="rect">
            <a:avLst/>
          </a:prstGeom>
        </p:spPr>
      </p:pic>
      <p:sp>
        <p:nvSpPr>
          <p:cNvPr id="10" name="Shape 5"/>
          <p:cNvSpPr/>
          <p:nvPr/>
        </p:nvSpPr>
        <p:spPr>
          <a:xfrm>
            <a:off x="3602736" y="1280160"/>
            <a:ext cx="1514650" cy="3291840"/>
          </a:xfrm>
          <a:prstGeom prst="roundRect">
            <a:avLst>
              <a:gd name="adj" fmla="val 12074"/>
            </a:avLst>
          </a:prstGeom>
          <a:ln w="12700">
            <a:solidFill>
              <a:srgbClr val="D1D1D6"/>
            </a:solidFill>
            <a:prstDash val="solid"/>
          </a:ln>
        </p:spPr>
      </p:sp>
      <p:sp>
        <p:nvSpPr>
          <p:cNvPr id="11" name="Shape 6"/>
          <p:cNvSpPr/>
          <p:nvPr/>
        </p:nvSpPr>
        <p:spPr>
          <a:xfrm>
            <a:off x="5257800" y="1280160"/>
            <a:ext cx="3520440" cy="2194560"/>
          </a:xfrm>
          <a:prstGeom prst="roundRect">
            <a:avLst>
              <a:gd name="adj" fmla="val 7500"/>
            </a:avLst>
          </a:prstGeom>
          <a:solidFill>
            <a:srgbClr val="FFFFFF"/>
          </a:solidFill>
          <a:ln w="12700">
            <a:solidFill>
              <a:srgbClr val="FFFFFF"/>
            </a:solidFill>
            <a:prstDash val="solid"/>
          </a:ln>
        </p:spPr>
      </p:sp>
      <p:sp>
        <p:nvSpPr>
          <p:cNvPr id="12" name="Text 7"/>
          <p:cNvSpPr txBox="1"/>
          <p:nvPr/>
        </p:nvSpPr>
        <p:spPr>
          <a:xfrm>
            <a:off x="5440680" y="1371600"/>
            <a:ext cx="315468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Built to glance at</a:t>
            </a:r>
            <a:endParaRPr lang="en-US" sz="1500" dirty="0"/>
          </a:p>
        </p:txBody>
      </p:sp>
      <p:sp>
        <p:nvSpPr>
          <p:cNvPr id="13" name="Shape 8"/>
          <p:cNvSpPr/>
          <p:nvPr/>
        </p:nvSpPr>
        <p:spPr>
          <a:xfrm>
            <a:off x="5477256" y="1837944"/>
            <a:ext cx="109728" cy="109728"/>
          </a:xfrm>
          <a:prstGeom prst="ellipse">
            <a:avLst/>
          </a:prstGeom>
          <a:solidFill>
            <a:srgbClr val="17A34A"/>
          </a:solidFill>
          <a:ln w="12700">
            <a:solidFill>
              <a:srgbClr val="17A34A"/>
            </a:solidFill>
            <a:prstDash val="solid"/>
          </a:ln>
        </p:spPr>
      </p:sp>
      <p:sp>
        <p:nvSpPr>
          <p:cNvPr id="14" name="Text 9"/>
          <p:cNvSpPr txBox="1"/>
          <p:nvPr/>
        </p:nvSpPr>
        <p:spPr>
          <a:xfrm>
            <a:off x="5696712" y="1737360"/>
            <a:ext cx="29260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One big Start drive button</a:t>
            </a:r>
            <a:endParaRPr lang="en-US" sz="1300" dirty="0"/>
          </a:p>
        </p:txBody>
      </p:sp>
      <p:sp>
        <p:nvSpPr>
          <p:cNvPr id="15" name="Shape 10"/>
          <p:cNvSpPr/>
          <p:nvPr/>
        </p:nvSpPr>
        <p:spPr>
          <a:xfrm>
            <a:off x="5477256" y="2167128"/>
            <a:ext cx="109728" cy="109728"/>
          </a:xfrm>
          <a:prstGeom prst="ellipse">
            <a:avLst/>
          </a:prstGeom>
          <a:solidFill>
            <a:srgbClr val="17A34A"/>
          </a:solidFill>
          <a:ln w="12700">
            <a:solidFill>
              <a:srgbClr val="17A34A"/>
            </a:solidFill>
            <a:prstDash val="solid"/>
          </a:ln>
        </p:spPr>
      </p:sp>
      <p:sp>
        <p:nvSpPr>
          <p:cNvPr id="16" name="Text 11"/>
          <p:cNvSpPr txBox="1"/>
          <p:nvPr/>
        </p:nvSpPr>
        <p:spPr>
          <a:xfrm>
            <a:off x="5696712" y="2066544"/>
            <a:ext cx="29260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Road-sign font, easy at a glance</a:t>
            </a:r>
            <a:endParaRPr lang="en-US" sz="1300" dirty="0"/>
          </a:p>
        </p:txBody>
      </p:sp>
      <p:sp>
        <p:nvSpPr>
          <p:cNvPr id="17" name="Shape 12"/>
          <p:cNvSpPr/>
          <p:nvPr/>
        </p:nvSpPr>
        <p:spPr>
          <a:xfrm>
            <a:off x="5477256" y="2496312"/>
            <a:ext cx="109728" cy="109728"/>
          </a:xfrm>
          <a:prstGeom prst="ellipse">
            <a:avLst/>
          </a:prstGeom>
          <a:solidFill>
            <a:srgbClr val="17A34A"/>
          </a:solidFill>
          <a:ln w="12700">
            <a:solidFill>
              <a:srgbClr val="17A34A"/>
            </a:solidFill>
            <a:prstDash val="solid"/>
          </a:ln>
        </p:spPr>
      </p:sp>
      <p:sp>
        <p:nvSpPr>
          <p:cNvPr id="18" name="Text 13"/>
          <p:cNvSpPr txBox="1"/>
          <p:nvPr/>
        </p:nvSpPr>
        <p:spPr>
          <a:xfrm>
            <a:off x="5696712" y="2395728"/>
            <a:ext cx="29260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Tab bar with a car that drives</a:t>
            </a:r>
            <a:endParaRPr lang="en-US" sz="1300" dirty="0"/>
          </a:p>
        </p:txBody>
      </p:sp>
      <p:sp>
        <p:nvSpPr>
          <p:cNvPr id="19" name="Shape 14"/>
          <p:cNvSpPr/>
          <p:nvPr/>
        </p:nvSpPr>
        <p:spPr>
          <a:xfrm>
            <a:off x="5477256" y="2825496"/>
            <a:ext cx="109728" cy="109728"/>
          </a:xfrm>
          <a:prstGeom prst="ellipse">
            <a:avLst/>
          </a:prstGeom>
          <a:solidFill>
            <a:srgbClr val="17A34A"/>
          </a:solidFill>
          <a:ln w="12700">
            <a:solidFill>
              <a:srgbClr val="17A34A"/>
            </a:solidFill>
            <a:prstDash val="solid"/>
          </a:ln>
        </p:spPr>
      </p:sp>
      <p:sp>
        <p:nvSpPr>
          <p:cNvPr id="20" name="Text 15"/>
          <p:cNvSpPr txBox="1"/>
          <p:nvPr/>
        </p:nvSpPr>
        <p:spPr>
          <a:xfrm>
            <a:off x="5696712" y="2724912"/>
            <a:ext cx="29260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Light and dark mode</a:t>
            </a:r>
            <a:endParaRPr lang="en-US" sz="1300" dirty="0"/>
          </a:p>
        </p:txBody>
      </p:sp>
      <p:sp>
        <p:nvSpPr>
          <p:cNvPr id="21" name="Shape 16"/>
          <p:cNvSpPr/>
          <p:nvPr/>
        </p:nvSpPr>
        <p:spPr>
          <a:xfrm>
            <a:off x="5477256" y="3154680"/>
            <a:ext cx="109728" cy="109728"/>
          </a:xfrm>
          <a:prstGeom prst="ellipse">
            <a:avLst/>
          </a:prstGeom>
          <a:solidFill>
            <a:srgbClr val="17A34A"/>
          </a:solidFill>
          <a:ln w="12700">
            <a:solidFill>
              <a:srgbClr val="17A34A"/>
            </a:solidFill>
            <a:prstDash val="solid"/>
          </a:ln>
        </p:spPr>
      </p:sp>
      <p:sp>
        <p:nvSpPr>
          <p:cNvPr id="22" name="Text 17"/>
          <p:cNvSpPr txBox="1"/>
          <p:nvPr/>
        </p:nvSpPr>
        <p:spPr>
          <a:xfrm>
            <a:off x="5696712" y="3054096"/>
            <a:ext cx="29260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Quick start walkthrough each launch</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548640"/>
          </a:xfrm>
          <a:prstGeom prst="rect">
            <a:avLst/>
          </a:prstGeom>
          <a:noFill/>
          <a:ln/>
        </p:spPr>
        <p:txBody>
          <a:bodyPr wrap="square" lIns="0" tIns="0" rIns="0" bIns="0" rtlCol="0" anchor="ctr"/>
          <a:lstStyle/>
          <a:p>
            <a:pPr indent="0" marL="0">
              <a:buNone/>
            </a:pPr>
            <a:r>
              <a:rPr lang="en-US" sz="3200" b="1" dirty="0">
                <a:solidFill>
                  <a:srgbClr val="1C1C1E"/>
                </a:solidFill>
                <a:latin typeface="Barlow" pitchFamily="34" charset="0"/>
                <a:ea typeface="Barlow" pitchFamily="34" charset="-122"/>
                <a:cs typeface="Barlow" pitchFamily="34" charset="-120"/>
              </a:rPr>
              <a:t>How it's built</a:t>
            </a:r>
            <a:endParaRPr lang="en-US" sz="3200" dirty="0"/>
          </a:p>
        </p:txBody>
      </p:sp>
      <p:sp>
        <p:nvSpPr>
          <p:cNvPr id="3" name="Shape 1"/>
          <p:cNvSpPr/>
          <p:nvPr/>
        </p:nvSpPr>
        <p:spPr>
          <a:xfrm>
            <a:off x="457200" y="841248"/>
            <a:ext cx="822960" cy="274320"/>
          </a:xfrm>
          <a:prstGeom prst="roundRect">
            <a:avLst>
              <a:gd name="adj" fmla="val 50000"/>
            </a:avLst>
          </a:prstGeom>
          <a:solidFill>
            <a:srgbClr val="DCE6FB"/>
          </a:solidFill>
          <a:ln w="12700">
            <a:solidFill>
              <a:srgbClr val="DCE6FB"/>
            </a:solidFill>
            <a:prstDash val="solid"/>
          </a:ln>
        </p:spPr>
      </p:sp>
      <p:sp>
        <p:nvSpPr>
          <p:cNvPr id="4" name="Text 2"/>
          <p:cNvSpPr txBox="1"/>
          <p:nvPr/>
        </p:nvSpPr>
        <p:spPr>
          <a:xfrm>
            <a:off x="457200" y="841248"/>
            <a:ext cx="822960" cy="274320"/>
          </a:xfrm>
          <a:prstGeom prst="rect">
            <a:avLst/>
          </a:prstGeom>
          <a:noFill/>
          <a:ln/>
        </p:spPr>
        <p:txBody>
          <a:bodyPr wrap="square" lIns="0" tIns="0" rIns="0" bIns="0" rtlCol="0" anchor="ctr"/>
          <a:lstStyle/>
          <a:p>
            <a:pPr algn="ctr" indent="0" marL="0">
              <a:buNone/>
            </a:pPr>
            <a:r>
              <a:rPr lang="en-US" sz="1100" b="1" dirty="0">
                <a:solidFill>
                  <a:srgbClr val="2663EB"/>
                </a:solidFill>
                <a:latin typeface="Inter" pitchFamily="34" charset="0"/>
                <a:ea typeface="Inter" pitchFamily="34" charset="-122"/>
                <a:cs typeface="Inter" pitchFamily="34" charset="-120"/>
              </a:rPr>
              <a:t>Function</a:t>
            </a:r>
            <a:endParaRPr lang="en-US" sz="1100" dirty="0"/>
          </a:p>
        </p:txBody>
      </p:sp>
      <p:sp>
        <p:nvSpPr>
          <p:cNvPr id="5" name="Shape 3"/>
          <p:cNvSpPr/>
          <p:nvPr/>
        </p:nvSpPr>
        <p:spPr>
          <a:xfrm>
            <a:off x="457200" y="1325880"/>
            <a:ext cx="2606040" cy="1097280"/>
          </a:xfrm>
          <a:prstGeom prst="roundRect">
            <a:avLst>
              <a:gd name="adj" fmla="val 15000"/>
            </a:avLst>
          </a:prstGeom>
          <a:solidFill>
            <a:srgbClr val="FFFFFF"/>
          </a:solidFill>
          <a:ln w="12700">
            <a:solidFill>
              <a:srgbClr val="FFFFFF"/>
            </a:solidFill>
            <a:prstDash val="solid"/>
          </a:ln>
        </p:spPr>
      </p:sp>
      <p:sp>
        <p:nvSpPr>
          <p:cNvPr id="6" name="Shape 4"/>
          <p:cNvSpPr/>
          <p:nvPr/>
        </p:nvSpPr>
        <p:spPr>
          <a:xfrm>
            <a:off x="658368" y="1572768"/>
            <a:ext cx="182880" cy="182880"/>
          </a:xfrm>
          <a:prstGeom prst="ellipse">
            <a:avLst/>
          </a:prstGeom>
          <a:solidFill>
            <a:srgbClr val="0F766E"/>
          </a:solidFill>
          <a:ln w="12700">
            <a:solidFill>
              <a:srgbClr val="0F766E"/>
            </a:solidFill>
            <a:prstDash val="solid"/>
          </a:ln>
        </p:spPr>
      </p:sp>
      <p:sp>
        <p:nvSpPr>
          <p:cNvPr id="7" name="Text 5"/>
          <p:cNvSpPr txBox="1"/>
          <p:nvPr/>
        </p:nvSpPr>
        <p:spPr>
          <a:xfrm>
            <a:off x="932688" y="1490472"/>
            <a:ext cx="1965960" cy="347472"/>
          </a:xfrm>
          <a:prstGeom prst="rect">
            <a:avLst/>
          </a:prstGeom>
          <a:noFill/>
          <a:ln/>
        </p:spPr>
        <p:txBody>
          <a:bodyPr wrap="square" lIns="0" tIns="0" rIns="0" bIns="0" rtlCol="0" anchor="ctr"/>
          <a:lstStyle/>
          <a:p>
            <a:pPr indent="0" marL="0">
              <a:buNone/>
            </a:pPr>
            <a:r>
              <a:rPr lang="en-US" sz="1700" b="1" dirty="0">
                <a:solidFill>
                  <a:srgbClr val="1C1C1E"/>
                </a:solidFill>
                <a:latin typeface="Barlow" pitchFamily="34" charset="0"/>
                <a:ea typeface="Barlow" pitchFamily="34" charset="-122"/>
                <a:cs typeface="Barlow" pitchFamily="34" charset="-120"/>
              </a:rPr>
              <a:t>Swift + SwiftUI</a:t>
            </a:r>
            <a:endParaRPr lang="en-US" sz="1700" dirty="0"/>
          </a:p>
        </p:txBody>
      </p:sp>
      <p:sp>
        <p:nvSpPr>
          <p:cNvPr id="8" name="Text 6"/>
          <p:cNvSpPr txBox="1"/>
          <p:nvPr/>
        </p:nvSpPr>
        <p:spPr>
          <a:xfrm>
            <a:off x="658368" y="1892808"/>
            <a:ext cx="2203704" cy="411480"/>
          </a:xfrm>
          <a:prstGeom prst="rect">
            <a:avLst/>
          </a:prstGeom>
          <a:noFill/>
          <a:ln/>
        </p:spPr>
        <p:txBody>
          <a:bodyPr wrap="square" lIns="0" tIns="0" rIns="0" bIns="0" rtlCol="0" anchor="t"/>
          <a:lstStyle/>
          <a:p>
            <a:pPr indent="0" marL="0">
              <a:buNone/>
            </a:pPr>
            <a:r>
              <a:rPr lang="en-US" sz="1200" dirty="0">
                <a:solidFill>
                  <a:srgbClr val="8A8A8E"/>
                </a:solidFill>
                <a:latin typeface="Inter" pitchFamily="34" charset="0"/>
                <a:ea typeface="Inter" pitchFamily="34" charset="-122"/>
                <a:cs typeface="Inter" pitchFamily="34" charset="-120"/>
              </a:rPr>
              <a:t>Native iPhone app, iOS 17</a:t>
            </a:r>
            <a:endParaRPr lang="en-US" sz="1200" dirty="0"/>
          </a:p>
        </p:txBody>
      </p:sp>
      <p:sp>
        <p:nvSpPr>
          <p:cNvPr id="9" name="Shape 7"/>
          <p:cNvSpPr/>
          <p:nvPr/>
        </p:nvSpPr>
        <p:spPr>
          <a:xfrm>
            <a:off x="3264408" y="1325880"/>
            <a:ext cx="2606040" cy="1097280"/>
          </a:xfrm>
          <a:prstGeom prst="roundRect">
            <a:avLst>
              <a:gd name="adj" fmla="val 15000"/>
            </a:avLst>
          </a:prstGeom>
          <a:solidFill>
            <a:srgbClr val="FFFFFF"/>
          </a:solidFill>
          <a:ln w="12700">
            <a:solidFill>
              <a:srgbClr val="FFFFFF"/>
            </a:solidFill>
            <a:prstDash val="solid"/>
          </a:ln>
        </p:spPr>
      </p:sp>
      <p:sp>
        <p:nvSpPr>
          <p:cNvPr id="10" name="Shape 8"/>
          <p:cNvSpPr/>
          <p:nvPr/>
        </p:nvSpPr>
        <p:spPr>
          <a:xfrm>
            <a:off x="3465576" y="1572768"/>
            <a:ext cx="182880" cy="182880"/>
          </a:xfrm>
          <a:prstGeom prst="ellipse">
            <a:avLst/>
          </a:prstGeom>
          <a:solidFill>
            <a:srgbClr val="7C3AED"/>
          </a:solidFill>
          <a:ln w="12700">
            <a:solidFill>
              <a:srgbClr val="7C3AED"/>
            </a:solidFill>
            <a:prstDash val="solid"/>
          </a:ln>
        </p:spPr>
      </p:sp>
      <p:sp>
        <p:nvSpPr>
          <p:cNvPr id="11" name="Text 9"/>
          <p:cNvSpPr txBox="1"/>
          <p:nvPr/>
        </p:nvSpPr>
        <p:spPr>
          <a:xfrm>
            <a:off x="3739896" y="1490472"/>
            <a:ext cx="1965960" cy="347472"/>
          </a:xfrm>
          <a:prstGeom prst="rect">
            <a:avLst/>
          </a:prstGeom>
          <a:noFill/>
          <a:ln/>
        </p:spPr>
        <p:txBody>
          <a:bodyPr wrap="square" lIns="0" tIns="0" rIns="0" bIns="0" rtlCol="0" anchor="ctr"/>
          <a:lstStyle/>
          <a:p>
            <a:pPr indent="0" marL="0">
              <a:buNone/>
            </a:pPr>
            <a:r>
              <a:rPr lang="en-US" sz="1700" b="1" dirty="0">
                <a:solidFill>
                  <a:srgbClr val="1C1C1E"/>
                </a:solidFill>
                <a:latin typeface="Barlow" pitchFamily="34" charset="0"/>
                <a:ea typeface="Barlow" pitchFamily="34" charset="-122"/>
                <a:cs typeface="Barlow" pitchFamily="34" charset="-120"/>
              </a:rPr>
              <a:t>Core ML</a:t>
            </a:r>
            <a:endParaRPr lang="en-US" sz="1700" dirty="0"/>
          </a:p>
        </p:txBody>
      </p:sp>
      <p:sp>
        <p:nvSpPr>
          <p:cNvPr id="12" name="Text 10"/>
          <p:cNvSpPr txBox="1"/>
          <p:nvPr/>
        </p:nvSpPr>
        <p:spPr>
          <a:xfrm>
            <a:off x="3465576" y="1892808"/>
            <a:ext cx="2203704" cy="411480"/>
          </a:xfrm>
          <a:prstGeom prst="rect">
            <a:avLst/>
          </a:prstGeom>
          <a:noFill/>
          <a:ln/>
        </p:spPr>
        <p:txBody>
          <a:bodyPr wrap="square" lIns="0" tIns="0" rIns="0" bIns="0" rtlCol="0" anchor="t"/>
          <a:lstStyle/>
          <a:p>
            <a:pPr indent="0" marL="0">
              <a:buNone/>
            </a:pPr>
            <a:r>
              <a:rPr lang="en-US" sz="1200" dirty="0">
                <a:solidFill>
                  <a:srgbClr val="8A8A8E"/>
                </a:solidFill>
                <a:latin typeface="Inter" pitchFamily="34" charset="0"/>
                <a:ea typeface="Inter" pitchFamily="34" charset="-122"/>
                <a:cs typeface="Inter" pitchFamily="34" charset="-120"/>
              </a:rPr>
              <a:t>YOLOv8 runs on the phone</a:t>
            </a:r>
            <a:endParaRPr lang="en-US" sz="1200" dirty="0"/>
          </a:p>
        </p:txBody>
      </p:sp>
      <p:sp>
        <p:nvSpPr>
          <p:cNvPr id="13" name="Shape 11"/>
          <p:cNvSpPr/>
          <p:nvPr/>
        </p:nvSpPr>
        <p:spPr>
          <a:xfrm>
            <a:off x="6071616" y="1325880"/>
            <a:ext cx="2606040" cy="1097280"/>
          </a:xfrm>
          <a:prstGeom prst="roundRect">
            <a:avLst>
              <a:gd name="adj" fmla="val 15000"/>
            </a:avLst>
          </a:prstGeom>
          <a:solidFill>
            <a:srgbClr val="FFFFFF"/>
          </a:solidFill>
          <a:ln w="12700">
            <a:solidFill>
              <a:srgbClr val="FFFFFF"/>
            </a:solidFill>
            <a:prstDash val="solid"/>
          </a:ln>
        </p:spPr>
      </p:sp>
      <p:sp>
        <p:nvSpPr>
          <p:cNvPr id="14" name="Shape 12"/>
          <p:cNvSpPr/>
          <p:nvPr/>
        </p:nvSpPr>
        <p:spPr>
          <a:xfrm>
            <a:off x="6272784" y="1572768"/>
            <a:ext cx="182880" cy="182880"/>
          </a:xfrm>
          <a:prstGeom prst="ellipse">
            <a:avLst/>
          </a:prstGeom>
          <a:solidFill>
            <a:srgbClr val="2663EB"/>
          </a:solidFill>
          <a:ln w="12700">
            <a:solidFill>
              <a:srgbClr val="2663EB"/>
            </a:solidFill>
            <a:prstDash val="solid"/>
          </a:ln>
        </p:spPr>
      </p:sp>
      <p:sp>
        <p:nvSpPr>
          <p:cNvPr id="15" name="Text 13"/>
          <p:cNvSpPr txBox="1"/>
          <p:nvPr/>
        </p:nvSpPr>
        <p:spPr>
          <a:xfrm>
            <a:off x="6547104" y="1490472"/>
            <a:ext cx="1965960" cy="347472"/>
          </a:xfrm>
          <a:prstGeom prst="rect">
            <a:avLst/>
          </a:prstGeom>
          <a:noFill/>
          <a:ln/>
        </p:spPr>
        <p:txBody>
          <a:bodyPr wrap="square" lIns="0" tIns="0" rIns="0" bIns="0" rtlCol="0" anchor="ctr"/>
          <a:lstStyle/>
          <a:p>
            <a:pPr indent="0" marL="0">
              <a:buNone/>
            </a:pPr>
            <a:r>
              <a:rPr lang="en-US" sz="1700" b="1" dirty="0">
                <a:solidFill>
                  <a:srgbClr val="1C1C1E"/>
                </a:solidFill>
                <a:latin typeface="Barlow" pitchFamily="34" charset="0"/>
                <a:ea typeface="Barlow" pitchFamily="34" charset="-122"/>
                <a:cs typeface="Barlow" pitchFamily="34" charset="-120"/>
              </a:rPr>
              <a:t>Vision</a:t>
            </a:r>
            <a:endParaRPr lang="en-US" sz="1700" dirty="0"/>
          </a:p>
        </p:txBody>
      </p:sp>
      <p:sp>
        <p:nvSpPr>
          <p:cNvPr id="16" name="Text 14"/>
          <p:cNvSpPr txBox="1"/>
          <p:nvPr/>
        </p:nvSpPr>
        <p:spPr>
          <a:xfrm>
            <a:off x="6272784" y="1892808"/>
            <a:ext cx="2203704" cy="411480"/>
          </a:xfrm>
          <a:prstGeom prst="rect">
            <a:avLst/>
          </a:prstGeom>
          <a:noFill/>
          <a:ln/>
        </p:spPr>
        <p:txBody>
          <a:bodyPr wrap="square" lIns="0" tIns="0" rIns="0" bIns="0" rtlCol="0" anchor="t"/>
          <a:lstStyle/>
          <a:p>
            <a:pPr indent="0" marL="0">
              <a:buNone/>
            </a:pPr>
            <a:r>
              <a:rPr lang="en-US" sz="1200" dirty="0">
                <a:solidFill>
                  <a:srgbClr val="8A8A8E"/>
                </a:solidFill>
                <a:latin typeface="Inter" pitchFamily="34" charset="0"/>
                <a:ea typeface="Inter" pitchFamily="34" charset="-122"/>
                <a:cs typeface="Inter" pitchFamily="34" charset="-120"/>
              </a:rPr>
              <a:t>Reads paper logs, finds faces</a:t>
            </a:r>
            <a:endParaRPr lang="en-US" sz="1200" dirty="0"/>
          </a:p>
        </p:txBody>
      </p:sp>
      <p:sp>
        <p:nvSpPr>
          <p:cNvPr id="17" name="Shape 15"/>
          <p:cNvSpPr/>
          <p:nvPr/>
        </p:nvSpPr>
        <p:spPr>
          <a:xfrm>
            <a:off x="457200" y="2624328"/>
            <a:ext cx="2606040" cy="1097280"/>
          </a:xfrm>
          <a:prstGeom prst="roundRect">
            <a:avLst>
              <a:gd name="adj" fmla="val 15000"/>
            </a:avLst>
          </a:prstGeom>
          <a:solidFill>
            <a:srgbClr val="FFFFFF"/>
          </a:solidFill>
          <a:ln w="12700">
            <a:solidFill>
              <a:srgbClr val="FFFFFF"/>
            </a:solidFill>
            <a:prstDash val="solid"/>
          </a:ln>
        </p:spPr>
      </p:sp>
      <p:sp>
        <p:nvSpPr>
          <p:cNvPr id="18" name="Shape 16"/>
          <p:cNvSpPr/>
          <p:nvPr/>
        </p:nvSpPr>
        <p:spPr>
          <a:xfrm>
            <a:off x="658368" y="2871216"/>
            <a:ext cx="182880" cy="182880"/>
          </a:xfrm>
          <a:prstGeom prst="ellipse">
            <a:avLst/>
          </a:prstGeom>
          <a:solidFill>
            <a:srgbClr val="17A34A"/>
          </a:solidFill>
          <a:ln w="12700">
            <a:solidFill>
              <a:srgbClr val="17A34A"/>
            </a:solidFill>
            <a:prstDash val="solid"/>
          </a:ln>
        </p:spPr>
      </p:sp>
      <p:sp>
        <p:nvSpPr>
          <p:cNvPr id="19" name="Text 17"/>
          <p:cNvSpPr txBox="1"/>
          <p:nvPr/>
        </p:nvSpPr>
        <p:spPr>
          <a:xfrm>
            <a:off x="932688" y="2788920"/>
            <a:ext cx="1965960" cy="347472"/>
          </a:xfrm>
          <a:prstGeom prst="rect">
            <a:avLst/>
          </a:prstGeom>
          <a:noFill/>
          <a:ln/>
        </p:spPr>
        <p:txBody>
          <a:bodyPr wrap="square" lIns="0" tIns="0" rIns="0" bIns="0" rtlCol="0" anchor="ctr"/>
          <a:lstStyle/>
          <a:p>
            <a:pPr indent="0" marL="0">
              <a:buNone/>
            </a:pPr>
            <a:r>
              <a:rPr lang="en-US" sz="1700" b="1" dirty="0">
                <a:solidFill>
                  <a:srgbClr val="1C1C1E"/>
                </a:solidFill>
                <a:latin typeface="Barlow" pitchFamily="34" charset="0"/>
                <a:ea typeface="Barlow" pitchFamily="34" charset="-122"/>
                <a:cs typeface="Barlow" pitchFamily="34" charset="-120"/>
              </a:rPr>
              <a:t>Location + Motion</a:t>
            </a:r>
            <a:endParaRPr lang="en-US" sz="1700" dirty="0"/>
          </a:p>
        </p:txBody>
      </p:sp>
      <p:sp>
        <p:nvSpPr>
          <p:cNvPr id="20" name="Text 18"/>
          <p:cNvSpPr txBox="1"/>
          <p:nvPr/>
        </p:nvSpPr>
        <p:spPr>
          <a:xfrm>
            <a:off x="658368" y="3191256"/>
            <a:ext cx="2203704" cy="411480"/>
          </a:xfrm>
          <a:prstGeom prst="rect">
            <a:avLst/>
          </a:prstGeom>
          <a:noFill/>
          <a:ln/>
        </p:spPr>
        <p:txBody>
          <a:bodyPr wrap="square" lIns="0" tIns="0" rIns="0" bIns="0" rtlCol="0" anchor="t"/>
          <a:lstStyle/>
          <a:p>
            <a:pPr indent="0" marL="0">
              <a:buNone/>
            </a:pPr>
            <a:r>
              <a:rPr lang="en-US" sz="1200" dirty="0">
                <a:solidFill>
                  <a:srgbClr val="8A8A8E"/>
                </a:solidFill>
                <a:latin typeface="Inter" pitchFamily="34" charset="0"/>
                <a:ea typeface="Inter" pitchFamily="34" charset="-122"/>
                <a:cs typeface="Inter" pitchFamily="34" charset="-120"/>
              </a:rPr>
              <a:t>GPS and motion sensors</a:t>
            </a:r>
            <a:endParaRPr lang="en-US" sz="1200" dirty="0"/>
          </a:p>
        </p:txBody>
      </p:sp>
      <p:sp>
        <p:nvSpPr>
          <p:cNvPr id="21" name="Shape 19"/>
          <p:cNvSpPr/>
          <p:nvPr/>
        </p:nvSpPr>
        <p:spPr>
          <a:xfrm>
            <a:off x="3264408" y="2624328"/>
            <a:ext cx="2606040" cy="1097280"/>
          </a:xfrm>
          <a:prstGeom prst="roundRect">
            <a:avLst>
              <a:gd name="adj" fmla="val 15000"/>
            </a:avLst>
          </a:prstGeom>
          <a:solidFill>
            <a:srgbClr val="FFFFFF"/>
          </a:solidFill>
          <a:ln w="12700">
            <a:solidFill>
              <a:srgbClr val="FFFFFF"/>
            </a:solidFill>
            <a:prstDash val="solid"/>
          </a:ln>
        </p:spPr>
      </p:sp>
      <p:sp>
        <p:nvSpPr>
          <p:cNvPr id="22" name="Shape 20"/>
          <p:cNvSpPr/>
          <p:nvPr/>
        </p:nvSpPr>
        <p:spPr>
          <a:xfrm>
            <a:off x="3465576" y="2871216"/>
            <a:ext cx="182880" cy="182880"/>
          </a:xfrm>
          <a:prstGeom prst="ellipse">
            <a:avLst/>
          </a:prstGeom>
          <a:solidFill>
            <a:srgbClr val="C2410C"/>
          </a:solidFill>
          <a:ln w="12700">
            <a:solidFill>
              <a:srgbClr val="C2410C"/>
            </a:solidFill>
            <a:prstDash val="solid"/>
          </a:ln>
        </p:spPr>
      </p:sp>
      <p:sp>
        <p:nvSpPr>
          <p:cNvPr id="23" name="Text 21"/>
          <p:cNvSpPr txBox="1"/>
          <p:nvPr/>
        </p:nvSpPr>
        <p:spPr>
          <a:xfrm>
            <a:off x="3739896" y="2788920"/>
            <a:ext cx="1965960" cy="347472"/>
          </a:xfrm>
          <a:prstGeom prst="rect">
            <a:avLst/>
          </a:prstGeom>
          <a:noFill/>
          <a:ln/>
        </p:spPr>
        <p:txBody>
          <a:bodyPr wrap="square" lIns="0" tIns="0" rIns="0" bIns="0" rtlCol="0" anchor="ctr"/>
          <a:lstStyle/>
          <a:p>
            <a:pPr indent="0" marL="0">
              <a:buNone/>
            </a:pPr>
            <a:r>
              <a:rPr lang="en-US" sz="1700" b="1" dirty="0">
                <a:solidFill>
                  <a:srgbClr val="1C1C1E"/>
                </a:solidFill>
                <a:latin typeface="Barlow" pitchFamily="34" charset="0"/>
                <a:ea typeface="Barlow" pitchFamily="34" charset="-122"/>
                <a:cs typeface="Barlow" pitchFamily="34" charset="-120"/>
              </a:rPr>
              <a:t>OpenStreetMap</a:t>
            </a:r>
            <a:endParaRPr lang="en-US" sz="1700" dirty="0"/>
          </a:p>
        </p:txBody>
      </p:sp>
      <p:sp>
        <p:nvSpPr>
          <p:cNvPr id="24" name="Text 22"/>
          <p:cNvSpPr txBox="1"/>
          <p:nvPr/>
        </p:nvSpPr>
        <p:spPr>
          <a:xfrm>
            <a:off x="3465576" y="3191256"/>
            <a:ext cx="2203704" cy="411480"/>
          </a:xfrm>
          <a:prstGeom prst="rect">
            <a:avLst/>
          </a:prstGeom>
          <a:noFill/>
          <a:ln/>
        </p:spPr>
        <p:txBody>
          <a:bodyPr wrap="square" lIns="0" tIns="0" rIns="0" bIns="0" rtlCol="0" anchor="t"/>
          <a:lstStyle/>
          <a:p>
            <a:pPr indent="0" marL="0">
              <a:buNone/>
            </a:pPr>
            <a:r>
              <a:rPr lang="en-US" sz="1200" dirty="0">
                <a:solidFill>
                  <a:srgbClr val="8A8A8E"/>
                </a:solidFill>
                <a:latin typeface="Inter" pitchFamily="34" charset="0"/>
                <a:ea typeface="Inter" pitchFamily="34" charset="-122"/>
                <a:cs typeface="Inter" pitchFamily="34" charset="-120"/>
              </a:rPr>
              <a:t>Speed limits and stop signs</a:t>
            </a:r>
            <a:endParaRPr lang="en-US" sz="1200" dirty="0"/>
          </a:p>
        </p:txBody>
      </p:sp>
      <p:sp>
        <p:nvSpPr>
          <p:cNvPr id="25" name="Shape 23"/>
          <p:cNvSpPr/>
          <p:nvPr/>
        </p:nvSpPr>
        <p:spPr>
          <a:xfrm>
            <a:off x="6071616" y="2624328"/>
            <a:ext cx="2606040" cy="1097280"/>
          </a:xfrm>
          <a:prstGeom prst="roundRect">
            <a:avLst>
              <a:gd name="adj" fmla="val 15000"/>
            </a:avLst>
          </a:prstGeom>
          <a:solidFill>
            <a:srgbClr val="FFFFFF"/>
          </a:solidFill>
          <a:ln w="12700">
            <a:solidFill>
              <a:srgbClr val="FFFFFF"/>
            </a:solidFill>
            <a:prstDash val="solid"/>
          </a:ln>
        </p:spPr>
      </p:sp>
      <p:sp>
        <p:nvSpPr>
          <p:cNvPr id="26" name="Shape 24"/>
          <p:cNvSpPr/>
          <p:nvPr/>
        </p:nvSpPr>
        <p:spPr>
          <a:xfrm>
            <a:off x="6272784" y="2871216"/>
            <a:ext cx="182880" cy="182880"/>
          </a:xfrm>
          <a:prstGeom prst="ellipse">
            <a:avLst/>
          </a:prstGeom>
          <a:solidFill>
            <a:srgbClr val="EF4444"/>
          </a:solidFill>
          <a:ln w="12700">
            <a:solidFill>
              <a:srgbClr val="EF4444"/>
            </a:solidFill>
            <a:prstDash val="solid"/>
          </a:ln>
        </p:spPr>
      </p:sp>
      <p:sp>
        <p:nvSpPr>
          <p:cNvPr id="27" name="Text 25"/>
          <p:cNvSpPr txBox="1"/>
          <p:nvPr/>
        </p:nvSpPr>
        <p:spPr>
          <a:xfrm>
            <a:off x="6547104" y="2788920"/>
            <a:ext cx="1965960" cy="347472"/>
          </a:xfrm>
          <a:prstGeom prst="rect">
            <a:avLst/>
          </a:prstGeom>
          <a:noFill/>
          <a:ln/>
        </p:spPr>
        <p:txBody>
          <a:bodyPr wrap="square" lIns="0" tIns="0" rIns="0" bIns="0" rtlCol="0" anchor="ctr"/>
          <a:lstStyle/>
          <a:p>
            <a:pPr indent="0" marL="0">
              <a:buNone/>
            </a:pPr>
            <a:r>
              <a:rPr lang="en-US" sz="1700" b="1" dirty="0">
                <a:solidFill>
                  <a:srgbClr val="1C1C1E"/>
                </a:solidFill>
                <a:latin typeface="Barlow" pitchFamily="34" charset="0"/>
                <a:ea typeface="Barlow" pitchFamily="34" charset="-122"/>
                <a:cs typeface="Barlow" pitchFamily="34" charset="-120"/>
              </a:rPr>
              <a:t>99 tests</a:t>
            </a:r>
            <a:endParaRPr lang="en-US" sz="1700" dirty="0"/>
          </a:p>
        </p:txBody>
      </p:sp>
      <p:sp>
        <p:nvSpPr>
          <p:cNvPr id="28" name="Text 26"/>
          <p:cNvSpPr txBox="1"/>
          <p:nvPr/>
        </p:nvSpPr>
        <p:spPr>
          <a:xfrm>
            <a:off x="6272784" y="3191256"/>
            <a:ext cx="2203704" cy="411480"/>
          </a:xfrm>
          <a:prstGeom prst="rect">
            <a:avLst/>
          </a:prstGeom>
          <a:noFill/>
          <a:ln/>
        </p:spPr>
        <p:txBody>
          <a:bodyPr wrap="square" lIns="0" tIns="0" rIns="0" bIns="0" rtlCol="0" anchor="t"/>
          <a:lstStyle/>
          <a:p>
            <a:pPr indent="0" marL="0">
              <a:buNone/>
            </a:pPr>
            <a:r>
              <a:rPr lang="en-US" sz="1200" dirty="0">
                <a:solidFill>
                  <a:srgbClr val="8A8A8E"/>
                </a:solidFill>
                <a:latin typeface="Inter" pitchFamily="34" charset="0"/>
                <a:ea typeface="Inter" pitchFamily="34" charset="-122"/>
                <a:cs typeface="Inter" pitchFamily="34" charset="-120"/>
              </a:rPr>
              <a:t>Automated tests, all passing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548640"/>
          </a:xfrm>
          <a:prstGeom prst="rect">
            <a:avLst/>
          </a:prstGeom>
          <a:noFill/>
          <a:ln/>
        </p:spPr>
        <p:txBody>
          <a:bodyPr wrap="square" lIns="0" tIns="0" rIns="0" bIns="0" rtlCol="0" anchor="ctr"/>
          <a:lstStyle/>
          <a:p>
            <a:pPr indent="0" marL="0">
              <a:buNone/>
            </a:pPr>
            <a:r>
              <a:rPr lang="en-US" sz="3200" b="1" dirty="0">
                <a:solidFill>
                  <a:srgbClr val="1C1C1E"/>
                </a:solidFill>
                <a:latin typeface="Barlow" pitchFamily="34" charset="0"/>
                <a:ea typeface="Barlow" pitchFamily="34" charset="-122"/>
                <a:cs typeface="Barlow" pitchFamily="34" charset="-120"/>
              </a:rPr>
              <a:t>Drive Score</a:t>
            </a:r>
            <a:endParaRPr lang="en-US" sz="3200" dirty="0"/>
          </a:p>
        </p:txBody>
      </p:sp>
      <p:sp>
        <p:nvSpPr>
          <p:cNvPr id="3" name="Shape 1"/>
          <p:cNvSpPr/>
          <p:nvPr/>
        </p:nvSpPr>
        <p:spPr>
          <a:xfrm>
            <a:off x="457200" y="841248"/>
            <a:ext cx="512064" cy="274320"/>
          </a:xfrm>
          <a:prstGeom prst="roundRect">
            <a:avLst>
              <a:gd name="adj" fmla="val 50000"/>
            </a:avLst>
          </a:prstGeom>
          <a:solidFill>
            <a:srgbClr val="D7EEEB"/>
          </a:solidFill>
          <a:ln w="12700">
            <a:solidFill>
              <a:srgbClr val="D7EEEB"/>
            </a:solidFill>
            <a:prstDash val="solid"/>
          </a:ln>
        </p:spPr>
      </p:sp>
      <p:sp>
        <p:nvSpPr>
          <p:cNvPr id="4" name="Text 2"/>
          <p:cNvSpPr txBox="1"/>
          <p:nvPr/>
        </p:nvSpPr>
        <p:spPr>
          <a:xfrm>
            <a:off x="457200" y="841248"/>
            <a:ext cx="512064" cy="274320"/>
          </a:xfrm>
          <a:prstGeom prst="rect">
            <a:avLst/>
          </a:prstGeom>
          <a:noFill/>
          <a:ln/>
        </p:spPr>
        <p:txBody>
          <a:bodyPr wrap="square" lIns="0" tIns="0" rIns="0" bIns="0" rtlCol="0" anchor="ctr"/>
          <a:lstStyle/>
          <a:p>
            <a:pPr algn="ctr" indent="0" marL="0">
              <a:buNone/>
            </a:pPr>
            <a:r>
              <a:rPr lang="en-US" sz="1100" b="1" dirty="0">
                <a:solidFill>
                  <a:srgbClr val="0F766E"/>
                </a:solidFill>
                <a:latin typeface="Inter" pitchFamily="34" charset="0"/>
                <a:ea typeface="Inter" pitchFamily="34" charset="-122"/>
                <a:cs typeface="Inter" pitchFamily="34" charset="-120"/>
              </a:rPr>
              <a:t>Code</a:t>
            </a:r>
            <a:endParaRPr lang="en-US" sz="1100" dirty="0"/>
          </a:p>
        </p:txBody>
      </p:sp>
      <p:pic>
        <p:nvPicPr>
          <p:cNvPr id="5" name="Image 0" descr="Driveby app screen">    </p:cNvPr>
          <p:cNvPicPr>
            <a:picLocks noChangeAspect="1"/>
          </p:cNvPicPr>
          <p:nvPr/>
        </p:nvPicPr>
        <p:blipFill>
          <a:blip r:embed="rId1"/>
          <a:stretch>
            <a:fillRect/>
          </a:stretch>
        </p:blipFill>
        <p:spPr>
          <a:xfrm>
            <a:off x="457200" y="1280160"/>
            <a:ext cx="1661908" cy="3611880"/>
          </a:xfrm>
          <a:prstGeom prst="rect">
            <a:avLst/>
          </a:prstGeom>
        </p:spPr>
      </p:pic>
      <p:sp>
        <p:nvSpPr>
          <p:cNvPr id="6" name="Shape 3"/>
          <p:cNvSpPr/>
          <p:nvPr/>
        </p:nvSpPr>
        <p:spPr>
          <a:xfrm>
            <a:off x="457200" y="1280160"/>
            <a:ext cx="1661908" cy="3611880"/>
          </a:xfrm>
          <a:prstGeom prst="roundRect">
            <a:avLst>
              <a:gd name="adj" fmla="val 11004"/>
            </a:avLst>
          </a:prstGeom>
          <a:ln w="12700">
            <a:solidFill>
              <a:srgbClr val="D1D1D6"/>
            </a:solidFill>
            <a:prstDash val="solid"/>
          </a:ln>
        </p:spPr>
      </p:sp>
      <p:sp>
        <p:nvSpPr>
          <p:cNvPr id="7" name="Shape 4"/>
          <p:cNvSpPr/>
          <p:nvPr/>
        </p:nvSpPr>
        <p:spPr>
          <a:xfrm>
            <a:off x="2377440" y="1280160"/>
            <a:ext cx="3091592" cy="1874520"/>
          </a:xfrm>
          <a:prstGeom prst="roundRect">
            <a:avLst>
              <a:gd name="adj" fmla="val 8780"/>
            </a:avLst>
          </a:prstGeom>
          <a:solidFill>
            <a:srgbClr val="FFFFFF"/>
          </a:solidFill>
          <a:ln w="12700">
            <a:solidFill>
              <a:srgbClr val="FFFFFF"/>
            </a:solidFill>
            <a:prstDash val="solid"/>
          </a:ln>
        </p:spPr>
      </p:sp>
      <p:sp>
        <p:nvSpPr>
          <p:cNvPr id="8" name="Text 5"/>
          <p:cNvSpPr txBox="1"/>
          <p:nvPr/>
        </p:nvSpPr>
        <p:spPr>
          <a:xfrm>
            <a:off x="2560320" y="1371600"/>
            <a:ext cx="274320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The code</a:t>
            </a:r>
            <a:endParaRPr lang="en-US" sz="1500" dirty="0"/>
          </a:p>
        </p:txBody>
      </p:sp>
      <p:pic>
        <p:nvPicPr>
          <p:cNvPr id="9" name="Image 1" descr="Driveby source code">    </p:cNvPr>
          <p:cNvPicPr>
            <a:picLocks noChangeAspect="1"/>
          </p:cNvPicPr>
          <p:nvPr/>
        </p:nvPicPr>
        <p:blipFill>
          <a:blip r:embed="rId2"/>
          <a:stretch>
            <a:fillRect/>
          </a:stretch>
        </p:blipFill>
        <p:spPr>
          <a:xfrm>
            <a:off x="2560320" y="1691640"/>
            <a:ext cx="2725832" cy="1325880"/>
          </a:xfrm>
          <a:prstGeom prst="rect">
            <a:avLst/>
          </a:prstGeom>
        </p:spPr>
      </p:pic>
      <p:sp>
        <p:nvSpPr>
          <p:cNvPr id="10" name="Shape 6"/>
          <p:cNvSpPr/>
          <p:nvPr/>
        </p:nvSpPr>
        <p:spPr>
          <a:xfrm>
            <a:off x="2377440" y="3291840"/>
            <a:ext cx="4434840" cy="1645920"/>
          </a:xfrm>
          <a:prstGeom prst="roundRect">
            <a:avLst>
              <a:gd name="adj" fmla="val 10000"/>
            </a:avLst>
          </a:prstGeom>
          <a:solidFill>
            <a:srgbClr val="FFFFFF"/>
          </a:solidFill>
          <a:ln w="12700">
            <a:solidFill>
              <a:srgbClr val="FFFFFF"/>
            </a:solidFill>
            <a:prstDash val="solid"/>
          </a:ln>
        </p:spPr>
      </p:sp>
      <p:sp>
        <p:nvSpPr>
          <p:cNvPr id="11" name="Text 7"/>
          <p:cNvSpPr txBox="1"/>
          <p:nvPr/>
        </p:nvSpPr>
        <p:spPr>
          <a:xfrm>
            <a:off x="2560320" y="3383280"/>
            <a:ext cx="406908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What it does</a:t>
            </a:r>
            <a:endParaRPr lang="en-US" sz="1500" dirty="0"/>
          </a:p>
        </p:txBody>
      </p:sp>
      <p:sp>
        <p:nvSpPr>
          <p:cNvPr id="12" name="Shape 8"/>
          <p:cNvSpPr/>
          <p:nvPr/>
        </p:nvSpPr>
        <p:spPr>
          <a:xfrm>
            <a:off x="2596896" y="3849624"/>
            <a:ext cx="109728" cy="109728"/>
          </a:xfrm>
          <a:prstGeom prst="ellipse">
            <a:avLst/>
          </a:prstGeom>
          <a:solidFill>
            <a:srgbClr val="0F766E"/>
          </a:solidFill>
          <a:ln w="12700">
            <a:solidFill>
              <a:srgbClr val="0F766E"/>
            </a:solidFill>
            <a:prstDash val="solid"/>
          </a:ln>
        </p:spPr>
      </p:sp>
      <p:sp>
        <p:nvSpPr>
          <p:cNvPr id="13" name="Text 9"/>
          <p:cNvSpPr txBox="1"/>
          <p:nvPr/>
        </p:nvSpPr>
        <p:spPr>
          <a:xfrm>
            <a:off x="2816352" y="374904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GPS 1x a second, motion 50x a second</a:t>
            </a:r>
            <a:endParaRPr lang="en-US" sz="1300" dirty="0"/>
          </a:p>
        </p:txBody>
      </p:sp>
      <p:sp>
        <p:nvSpPr>
          <p:cNvPr id="14" name="Shape 10"/>
          <p:cNvSpPr/>
          <p:nvPr/>
        </p:nvSpPr>
        <p:spPr>
          <a:xfrm>
            <a:off x="2596896" y="4123944"/>
            <a:ext cx="109728" cy="109728"/>
          </a:xfrm>
          <a:prstGeom prst="ellipse">
            <a:avLst/>
          </a:prstGeom>
          <a:solidFill>
            <a:srgbClr val="0F766E"/>
          </a:solidFill>
          <a:ln w="12700">
            <a:solidFill>
              <a:srgbClr val="0F766E"/>
            </a:solidFill>
            <a:prstDash val="solid"/>
          </a:ln>
        </p:spPr>
      </p:sp>
      <p:sp>
        <p:nvSpPr>
          <p:cNvPr id="15" name="Text 11"/>
          <p:cNvSpPr txBox="1"/>
          <p:nvPr/>
        </p:nvSpPr>
        <p:spPr>
          <a:xfrm>
            <a:off x="2816352" y="402336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Smooths speed with a Savitzky-Golay filter</a:t>
            </a:r>
            <a:endParaRPr lang="en-US" sz="1300" dirty="0"/>
          </a:p>
        </p:txBody>
      </p:sp>
      <p:sp>
        <p:nvSpPr>
          <p:cNvPr id="16" name="Shape 12"/>
          <p:cNvSpPr/>
          <p:nvPr/>
        </p:nvSpPr>
        <p:spPr>
          <a:xfrm>
            <a:off x="2596896" y="4398264"/>
            <a:ext cx="109728" cy="109728"/>
          </a:xfrm>
          <a:prstGeom prst="ellipse">
            <a:avLst/>
          </a:prstGeom>
          <a:solidFill>
            <a:srgbClr val="0F766E"/>
          </a:solidFill>
          <a:ln w="12700">
            <a:solidFill>
              <a:srgbClr val="0F766E"/>
            </a:solidFill>
            <a:prstDash val="solid"/>
          </a:ln>
        </p:spPr>
      </p:sp>
      <p:sp>
        <p:nvSpPr>
          <p:cNvPr id="17" name="Text 13"/>
          <p:cNvSpPr txBox="1"/>
          <p:nvPr/>
        </p:nvSpPr>
        <p:spPr>
          <a:xfrm>
            <a:off x="2816352" y="429768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Flags hard brakes, sharp turns, speeding</a:t>
            </a:r>
            <a:endParaRPr lang="en-US" sz="1300" dirty="0"/>
          </a:p>
        </p:txBody>
      </p:sp>
      <p:sp>
        <p:nvSpPr>
          <p:cNvPr id="18" name="Shape 14"/>
          <p:cNvSpPr/>
          <p:nvPr/>
        </p:nvSpPr>
        <p:spPr>
          <a:xfrm>
            <a:off x="2596896" y="4672584"/>
            <a:ext cx="109728" cy="109728"/>
          </a:xfrm>
          <a:prstGeom prst="ellipse">
            <a:avLst/>
          </a:prstGeom>
          <a:solidFill>
            <a:srgbClr val="0F766E"/>
          </a:solidFill>
          <a:ln w="12700">
            <a:solidFill>
              <a:srgbClr val="0F766E"/>
            </a:solidFill>
            <a:prstDash val="solid"/>
          </a:ln>
        </p:spPr>
      </p:sp>
      <p:sp>
        <p:nvSpPr>
          <p:cNvPr id="19" name="Text 15"/>
          <p:cNvSpPr txBox="1"/>
          <p:nvPr/>
        </p:nvSpPr>
        <p:spPr>
          <a:xfrm>
            <a:off x="2816352" y="457200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OpenStreetMap limits feed the safety score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548640"/>
          </a:xfrm>
          <a:prstGeom prst="rect">
            <a:avLst/>
          </a:prstGeom>
          <a:noFill/>
          <a:ln/>
        </p:spPr>
        <p:txBody>
          <a:bodyPr wrap="square" lIns="0" tIns="0" rIns="0" bIns="0" rtlCol="0" anchor="ctr"/>
          <a:lstStyle/>
          <a:p>
            <a:pPr indent="0" marL="0">
              <a:buNone/>
            </a:pPr>
            <a:r>
              <a:rPr lang="en-US" sz="3200" b="1" dirty="0">
                <a:solidFill>
                  <a:srgbClr val="1C1C1E"/>
                </a:solidFill>
                <a:latin typeface="Barlow" pitchFamily="34" charset="0"/>
                <a:ea typeface="Barlow" pitchFamily="34" charset="-122"/>
                <a:cs typeface="Barlow" pitchFamily="34" charset="-120"/>
              </a:rPr>
              <a:t>Live Coach</a:t>
            </a:r>
            <a:endParaRPr lang="en-US" sz="3200" dirty="0"/>
          </a:p>
        </p:txBody>
      </p:sp>
      <p:sp>
        <p:nvSpPr>
          <p:cNvPr id="3" name="Shape 1"/>
          <p:cNvSpPr/>
          <p:nvPr/>
        </p:nvSpPr>
        <p:spPr>
          <a:xfrm>
            <a:off x="457200" y="841248"/>
            <a:ext cx="512064" cy="274320"/>
          </a:xfrm>
          <a:prstGeom prst="roundRect">
            <a:avLst>
              <a:gd name="adj" fmla="val 50000"/>
            </a:avLst>
          </a:prstGeom>
          <a:solidFill>
            <a:srgbClr val="D7EEEB"/>
          </a:solidFill>
          <a:ln w="12700">
            <a:solidFill>
              <a:srgbClr val="D7EEEB"/>
            </a:solidFill>
            <a:prstDash val="solid"/>
          </a:ln>
        </p:spPr>
      </p:sp>
      <p:sp>
        <p:nvSpPr>
          <p:cNvPr id="4" name="Text 2"/>
          <p:cNvSpPr txBox="1"/>
          <p:nvPr/>
        </p:nvSpPr>
        <p:spPr>
          <a:xfrm>
            <a:off x="457200" y="841248"/>
            <a:ext cx="512064" cy="274320"/>
          </a:xfrm>
          <a:prstGeom prst="rect">
            <a:avLst/>
          </a:prstGeom>
          <a:noFill/>
          <a:ln/>
        </p:spPr>
        <p:txBody>
          <a:bodyPr wrap="square" lIns="0" tIns="0" rIns="0" bIns="0" rtlCol="0" anchor="ctr"/>
          <a:lstStyle/>
          <a:p>
            <a:pPr algn="ctr" indent="0" marL="0">
              <a:buNone/>
            </a:pPr>
            <a:r>
              <a:rPr lang="en-US" sz="1100" b="1" dirty="0">
                <a:solidFill>
                  <a:srgbClr val="0F766E"/>
                </a:solidFill>
                <a:latin typeface="Inter" pitchFamily="34" charset="0"/>
                <a:ea typeface="Inter" pitchFamily="34" charset="-122"/>
                <a:cs typeface="Inter" pitchFamily="34" charset="-120"/>
              </a:rPr>
              <a:t>Code</a:t>
            </a:r>
            <a:endParaRPr lang="en-US" sz="1100" dirty="0"/>
          </a:p>
        </p:txBody>
      </p:sp>
      <p:pic>
        <p:nvPicPr>
          <p:cNvPr id="5" name="Image 0" descr="Driveby app screen">    </p:cNvPr>
          <p:cNvPicPr>
            <a:picLocks noChangeAspect="1"/>
          </p:cNvPicPr>
          <p:nvPr/>
        </p:nvPicPr>
        <p:blipFill>
          <a:blip r:embed="rId1"/>
          <a:stretch>
            <a:fillRect/>
          </a:stretch>
        </p:blipFill>
        <p:spPr>
          <a:xfrm>
            <a:off x="457200" y="1280160"/>
            <a:ext cx="1661908" cy="3611880"/>
          </a:xfrm>
          <a:prstGeom prst="rect">
            <a:avLst/>
          </a:prstGeom>
        </p:spPr>
      </p:pic>
      <p:sp>
        <p:nvSpPr>
          <p:cNvPr id="6" name="Shape 3"/>
          <p:cNvSpPr/>
          <p:nvPr/>
        </p:nvSpPr>
        <p:spPr>
          <a:xfrm>
            <a:off x="457200" y="1280160"/>
            <a:ext cx="1661908" cy="3611880"/>
          </a:xfrm>
          <a:prstGeom prst="roundRect">
            <a:avLst>
              <a:gd name="adj" fmla="val 11004"/>
            </a:avLst>
          </a:prstGeom>
          <a:ln w="12700">
            <a:solidFill>
              <a:srgbClr val="D1D1D6"/>
            </a:solidFill>
            <a:prstDash val="solid"/>
          </a:ln>
        </p:spPr>
      </p:sp>
      <p:sp>
        <p:nvSpPr>
          <p:cNvPr id="7" name="Shape 4"/>
          <p:cNvSpPr/>
          <p:nvPr/>
        </p:nvSpPr>
        <p:spPr>
          <a:xfrm>
            <a:off x="2377440" y="1280160"/>
            <a:ext cx="3544628" cy="1874520"/>
          </a:xfrm>
          <a:prstGeom prst="roundRect">
            <a:avLst>
              <a:gd name="adj" fmla="val 8780"/>
            </a:avLst>
          </a:prstGeom>
          <a:solidFill>
            <a:srgbClr val="FFFFFF"/>
          </a:solidFill>
          <a:ln w="12700">
            <a:solidFill>
              <a:srgbClr val="FFFFFF"/>
            </a:solidFill>
            <a:prstDash val="solid"/>
          </a:ln>
        </p:spPr>
      </p:sp>
      <p:sp>
        <p:nvSpPr>
          <p:cNvPr id="8" name="Text 5"/>
          <p:cNvSpPr txBox="1"/>
          <p:nvPr/>
        </p:nvSpPr>
        <p:spPr>
          <a:xfrm>
            <a:off x="2560320" y="1371600"/>
            <a:ext cx="274320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The code</a:t>
            </a:r>
            <a:endParaRPr lang="en-US" sz="1500" dirty="0"/>
          </a:p>
        </p:txBody>
      </p:sp>
      <p:pic>
        <p:nvPicPr>
          <p:cNvPr id="9" name="Image 1" descr="Driveby source code">    </p:cNvPr>
          <p:cNvPicPr>
            <a:picLocks noChangeAspect="1"/>
          </p:cNvPicPr>
          <p:nvPr/>
        </p:nvPicPr>
        <p:blipFill>
          <a:blip r:embed="rId2"/>
          <a:stretch>
            <a:fillRect/>
          </a:stretch>
        </p:blipFill>
        <p:spPr>
          <a:xfrm>
            <a:off x="2560320" y="1691640"/>
            <a:ext cx="3178868" cy="1325880"/>
          </a:xfrm>
          <a:prstGeom prst="rect">
            <a:avLst/>
          </a:prstGeom>
        </p:spPr>
      </p:pic>
      <p:sp>
        <p:nvSpPr>
          <p:cNvPr id="10" name="Shape 6"/>
          <p:cNvSpPr/>
          <p:nvPr/>
        </p:nvSpPr>
        <p:spPr>
          <a:xfrm>
            <a:off x="2377440" y="3291840"/>
            <a:ext cx="4434840" cy="1645920"/>
          </a:xfrm>
          <a:prstGeom prst="roundRect">
            <a:avLst>
              <a:gd name="adj" fmla="val 10000"/>
            </a:avLst>
          </a:prstGeom>
          <a:solidFill>
            <a:srgbClr val="FFFFFF"/>
          </a:solidFill>
          <a:ln w="12700">
            <a:solidFill>
              <a:srgbClr val="FFFFFF"/>
            </a:solidFill>
            <a:prstDash val="solid"/>
          </a:ln>
        </p:spPr>
      </p:sp>
      <p:sp>
        <p:nvSpPr>
          <p:cNvPr id="11" name="Text 7"/>
          <p:cNvSpPr txBox="1"/>
          <p:nvPr/>
        </p:nvSpPr>
        <p:spPr>
          <a:xfrm>
            <a:off x="2560320" y="3383280"/>
            <a:ext cx="406908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What it does</a:t>
            </a:r>
            <a:endParaRPr lang="en-US" sz="1500" dirty="0"/>
          </a:p>
        </p:txBody>
      </p:sp>
      <p:sp>
        <p:nvSpPr>
          <p:cNvPr id="12" name="Shape 8"/>
          <p:cNvSpPr/>
          <p:nvPr/>
        </p:nvSpPr>
        <p:spPr>
          <a:xfrm>
            <a:off x="2596896" y="3849624"/>
            <a:ext cx="109728" cy="109728"/>
          </a:xfrm>
          <a:prstGeom prst="ellipse">
            <a:avLst/>
          </a:prstGeom>
          <a:solidFill>
            <a:srgbClr val="0F766E"/>
          </a:solidFill>
          <a:ln w="12700">
            <a:solidFill>
              <a:srgbClr val="0F766E"/>
            </a:solidFill>
            <a:prstDash val="solid"/>
          </a:ln>
        </p:spPr>
      </p:sp>
      <p:sp>
        <p:nvSpPr>
          <p:cNvPr id="13" name="Text 9"/>
          <p:cNvSpPr txBox="1"/>
          <p:nvPr/>
        </p:nvSpPr>
        <p:spPr>
          <a:xfrm>
            <a:off x="2816352" y="374904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YOLOv8 runs on the phone, 15 fps</a:t>
            </a:r>
            <a:endParaRPr lang="en-US" sz="1300" dirty="0"/>
          </a:p>
        </p:txBody>
      </p:sp>
      <p:sp>
        <p:nvSpPr>
          <p:cNvPr id="14" name="Shape 10"/>
          <p:cNvSpPr/>
          <p:nvPr/>
        </p:nvSpPr>
        <p:spPr>
          <a:xfrm>
            <a:off x="2596896" y="4123944"/>
            <a:ext cx="109728" cy="109728"/>
          </a:xfrm>
          <a:prstGeom prst="ellipse">
            <a:avLst/>
          </a:prstGeom>
          <a:solidFill>
            <a:srgbClr val="0F766E"/>
          </a:solidFill>
          <a:ln w="12700">
            <a:solidFill>
              <a:srgbClr val="0F766E"/>
            </a:solidFill>
            <a:prstDash val="solid"/>
          </a:ln>
        </p:spPr>
      </p:sp>
      <p:sp>
        <p:nvSpPr>
          <p:cNvPr id="15" name="Text 11"/>
          <p:cNvSpPr txBox="1"/>
          <p:nvPr/>
        </p:nvSpPr>
        <p:spPr>
          <a:xfrm>
            <a:off x="2816352" y="402336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Distance from the car's width in pixels</a:t>
            </a:r>
            <a:endParaRPr lang="en-US" sz="1300" dirty="0"/>
          </a:p>
        </p:txBody>
      </p:sp>
      <p:sp>
        <p:nvSpPr>
          <p:cNvPr id="16" name="Shape 12"/>
          <p:cNvSpPr/>
          <p:nvPr/>
        </p:nvSpPr>
        <p:spPr>
          <a:xfrm>
            <a:off x="2596896" y="4398264"/>
            <a:ext cx="109728" cy="109728"/>
          </a:xfrm>
          <a:prstGeom prst="ellipse">
            <a:avLst/>
          </a:prstGeom>
          <a:solidFill>
            <a:srgbClr val="0F766E"/>
          </a:solidFill>
          <a:ln w="12700">
            <a:solidFill>
              <a:srgbClr val="0F766E"/>
            </a:solidFill>
            <a:prstDash val="solid"/>
          </a:ln>
        </p:spPr>
      </p:sp>
      <p:sp>
        <p:nvSpPr>
          <p:cNvPr id="17" name="Text 13"/>
          <p:cNvSpPr txBox="1"/>
          <p:nvPr/>
        </p:nvSpPr>
        <p:spPr>
          <a:xfrm>
            <a:off x="2816352" y="429768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Following time under 1 s for 3 s: "Back off"</a:t>
            </a:r>
            <a:endParaRPr lang="en-US" sz="1300" dirty="0"/>
          </a:p>
        </p:txBody>
      </p:sp>
      <p:sp>
        <p:nvSpPr>
          <p:cNvPr id="18" name="Shape 14"/>
          <p:cNvSpPr/>
          <p:nvPr/>
        </p:nvSpPr>
        <p:spPr>
          <a:xfrm>
            <a:off x="2596896" y="4672584"/>
            <a:ext cx="109728" cy="109728"/>
          </a:xfrm>
          <a:prstGeom prst="ellipse">
            <a:avLst/>
          </a:prstGeom>
          <a:solidFill>
            <a:srgbClr val="0F766E"/>
          </a:solidFill>
          <a:ln w="12700">
            <a:solidFill>
              <a:srgbClr val="0F766E"/>
            </a:solidFill>
            <a:prstDash val="solid"/>
          </a:ln>
        </p:spPr>
      </p:sp>
      <p:sp>
        <p:nvSpPr>
          <p:cNvPr id="19" name="Text 15"/>
          <p:cNvSpPr txBox="1"/>
          <p:nvPr/>
        </p:nvSpPr>
        <p:spPr>
          <a:xfrm>
            <a:off x="2816352" y="457200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Faces and plates blurred on the phone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548640"/>
          </a:xfrm>
          <a:prstGeom prst="rect">
            <a:avLst/>
          </a:prstGeom>
          <a:noFill/>
          <a:ln/>
        </p:spPr>
        <p:txBody>
          <a:bodyPr wrap="square" lIns="0" tIns="0" rIns="0" bIns="0" rtlCol="0" anchor="ctr"/>
          <a:lstStyle/>
          <a:p>
            <a:pPr indent="0" marL="0">
              <a:buNone/>
            </a:pPr>
            <a:r>
              <a:rPr lang="en-US" sz="3200" b="1" dirty="0">
                <a:solidFill>
                  <a:srgbClr val="1C1C1E"/>
                </a:solidFill>
                <a:latin typeface="Barlow" pitchFamily="34" charset="0"/>
                <a:ea typeface="Barlow" pitchFamily="34" charset="-122"/>
                <a:cs typeface="Barlow" pitchFamily="34" charset="-120"/>
              </a:rPr>
              <a:t>Stop Signs and Skills</a:t>
            </a:r>
            <a:endParaRPr lang="en-US" sz="3200" dirty="0"/>
          </a:p>
        </p:txBody>
      </p:sp>
      <p:sp>
        <p:nvSpPr>
          <p:cNvPr id="3" name="Shape 1"/>
          <p:cNvSpPr/>
          <p:nvPr/>
        </p:nvSpPr>
        <p:spPr>
          <a:xfrm>
            <a:off x="457200" y="841248"/>
            <a:ext cx="512064" cy="274320"/>
          </a:xfrm>
          <a:prstGeom prst="roundRect">
            <a:avLst>
              <a:gd name="adj" fmla="val 50000"/>
            </a:avLst>
          </a:prstGeom>
          <a:solidFill>
            <a:srgbClr val="D7EEEB"/>
          </a:solidFill>
          <a:ln w="12700">
            <a:solidFill>
              <a:srgbClr val="D7EEEB"/>
            </a:solidFill>
            <a:prstDash val="solid"/>
          </a:ln>
        </p:spPr>
      </p:sp>
      <p:sp>
        <p:nvSpPr>
          <p:cNvPr id="4" name="Text 2"/>
          <p:cNvSpPr txBox="1"/>
          <p:nvPr/>
        </p:nvSpPr>
        <p:spPr>
          <a:xfrm>
            <a:off x="457200" y="841248"/>
            <a:ext cx="512064" cy="274320"/>
          </a:xfrm>
          <a:prstGeom prst="rect">
            <a:avLst/>
          </a:prstGeom>
          <a:noFill/>
          <a:ln/>
        </p:spPr>
        <p:txBody>
          <a:bodyPr wrap="square" lIns="0" tIns="0" rIns="0" bIns="0" rtlCol="0" anchor="ctr"/>
          <a:lstStyle/>
          <a:p>
            <a:pPr algn="ctr" indent="0" marL="0">
              <a:buNone/>
            </a:pPr>
            <a:r>
              <a:rPr lang="en-US" sz="1100" b="1" dirty="0">
                <a:solidFill>
                  <a:srgbClr val="0F766E"/>
                </a:solidFill>
                <a:latin typeface="Inter" pitchFamily="34" charset="0"/>
                <a:ea typeface="Inter" pitchFamily="34" charset="-122"/>
                <a:cs typeface="Inter" pitchFamily="34" charset="-120"/>
              </a:rPr>
              <a:t>Code</a:t>
            </a:r>
            <a:endParaRPr lang="en-US" sz="1100" dirty="0"/>
          </a:p>
        </p:txBody>
      </p:sp>
      <p:pic>
        <p:nvPicPr>
          <p:cNvPr id="5" name="Image 0" descr="Driveby app screen">    </p:cNvPr>
          <p:cNvPicPr>
            <a:picLocks noChangeAspect="1"/>
          </p:cNvPicPr>
          <p:nvPr/>
        </p:nvPicPr>
        <p:blipFill>
          <a:blip r:embed="rId1"/>
          <a:stretch>
            <a:fillRect/>
          </a:stretch>
        </p:blipFill>
        <p:spPr>
          <a:xfrm>
            <a:off x="457200" y="1280160"/>
            <a:ext cx="1661908" cy="3611880"/>
          </a:xfrm>
          <a:prstGeom prst="rect">
            <a:avLst/>
          </a:prstGeom>
        </p:spPr>
      </p:pic>
      <p:sp>
        <p:nvSpPr>
          <p:cNvPr id="6" name="Shape 3"/>
          <p:cNvSpPr/>
          <p:nvPr/>
        </p:nvSpPr>
        <p:spPr>
          <a:xfrm>
            <a:off x="457200" y="1280160"/>
            <a:ext cx="1661908" cy="3611880"/>
          </a:xfrm>
          <a:prstGeom prst="roundRect">
            <a:avLst>
              <a:gd name="adj" fmla="val 11004"/>
            </a:avLst>
          </a:prstGeom>
          <a:ln w="12700">
            <a:solidFill>
              <a:srgbClr val="D1D1D6"/>
            </a:solidFill>
            <a:prstDash val="solid"/>
          </a:ln>
        </p:spPr>
      </p:sp>
      <p:sp>
        <p:nvSpPr>
          <p:cNvPr id="7" name="Shape 4"/>
          <p:cNvSpPr/>
          <p:nvPr/>
        </p:nvSpPr>
        <p:spPr>
          <a:xfrm>
            <a:off x="2377440" y="1280160"/>
            <a:ext cx="3739253" cy="1874520"/>
          </a:xfrm>
          <a:prstGeom prst="roundRect">
            <a:avLst>
              <a:gd name="adj" fmla="val 8780"/>
            </a:avLst>
          </a:prstGeom>
          <a:solidFill>
            <a:srgbClr val="FFFFFF"/>
          </a:solidFill>
          <a:ln w="12700">
            <a:solidFill>
              <a:srgbClr val="FFFFFF"/>
            </a:solidFill>
            <a:prstDash val="solid"/>
          </a:ln>
        </p:spPr>
      </p:sp>
      <p:sp>
        <p:nvSpPr>
          <p:cNvPr id="8" name="Text 5"/>
          <p:cNvSpPr txBox="1"/>
          <p:nvPr/>
        </p:nvSpPr>
        <p:spPr>
          <a:xfrm>
            <a:off x="2560320" y="1371600"/>
            <a:ext cx="274320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The code</a:t>
            </a:r>
            <a:endParaRPr lang="en-US" sz="1500" dirty="0"/>
          </a:p>
        </p:txBody>
      </p:sp>
      <p:pic>
        <p:nvPicPr>
          <p:cNvPr id="9" name="Image 1" descr="Driveby source code">    </p:cNvPr>
          <p:cNvPicPr>
            <a:picLocks noChangeAspect="1"/>
          </p:cNvPicPr>
          <p:nvPr/>
        </p:nvPicPr>
        <p:blipFill>
          <a:blip r:embed="rId2"/>
          <a:stretch>
            <a:fillRect/>
          </a:stretch>
        </p:blipFill>
        <p:spPr>
          <a:xfrm>
            <a:off x="2560320" y="1691640"/>
            <a:ext cx="3373493" cy="1325880"/>
          </a:xfrm>
          <a:prstGeom prst="rect">
            <a:avLst/>
          </a:prstGeom>
        </p:spPr>
      </p:pic>
      <p:sp>
        <p:nvSpPr>
          <p:cNvPr id="10" name="Shape 6"/>
          <p:cNvSpPr/>
          <p:nvPr/>
        </p:nvSpPr>
        <p:spPr>
          <a:xfrm>
            <a:off x="2377440" y="3291840"/>
            <a:ext cx="4434840" cy="1645920"/>
          </a:xfrm>
          <a:prstGeom prst="roundRect">
            <a:avLst>
              <a:gd name="adj" fmla="val 10000"/>
            </a:avLst>
          </a:prstGeom>
          <a:solidFill>
            <a:srgbClr val="FFFFFF"/>
          </a:solidFill>
          <a:ln w="12700">
            <a:solidFill>
              <a:srgbClr val="FFFFFF"/>
            </a:solidFill>
            <a:prstDash val="solid"/>
          </a:ln>
        </p:spPr>
      </p:sp>
      <p:sp>
        <p:nvSpPr>
          <p:cNvPr id="11" name="Text 7"/>
          <p:cNvSpPr txBox="1"/>
          <p:nvPr/>
        </p:nvSpPr>
        <p:spPr>
          <a:xfrm>
            <a:off x="2560320" y="3383280"/>
            <a:ext cx="406908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What it does</a:t>
            </a:r>
            <a:endParaRPr lang="en-US" sz="1500" dirty="0"/>
          </a:p>
        </p:txBody>
      </p:sp>
      <p:sp>
        <p:nvSpPr>
          <p:cNvPr id="12" name="Shape 8"/>
          <p:cNvSpPr/>
          <p:nvPr/>
        </p:nvSpPr>
        <p:spPr>
          <a:xfrm>
            <a:off x="2596896" y="3849624"/>
            <a:ext cx="109728" cy="109728"/>
          </a:xfrm>
          <a:prstGeom prst="ellipse">
            <a:avLst/>
          </a:prstGeom>
          <a:solidFill>
            <a:srgbClr val="0F766E"/>
          </a:solidFill>
          <a:ln w="12700">
            <a:solidFill>
              <a:srgbClr val="0F766E"/>
            </a:solidFill>
            <a:prstDash val="solid"/>
          </a:ln>
        </p:spPr>
      </p:sp>
      <p:sp>
        <p:nvSpPr>
          <p:cNvPr id="13" name="Text 9"/>
          <p:cNvSpPr txBox="1"/>
          <p:nvPr/>
        </p:nvSpPr>
        <p:spPr>
          <a:xfrm>
            <a:off x="2816352" y="374904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GPS trace matched to the road you're on</a:t>
            </a:r>
            <a:endParaRPr lang="en-US" sz="1300" dirty="0"/>
          </a:p>
        </p:txBody>
      </p:sp>
      <p:sp>
        <p:nvSpPr>
          <p:cNvPr id="14" name="Shape 10"/>
          <p:cNvSpPr/>
          <p:nvPr/>
        </p:nvSpPr>
        <p:spPr>
          <a:xfrm>
            <a:off x="2596896" y="4123944"/>
            <a:ext cx="109728" cy="109728"/>
          </a:xfrm>
          <a:prstGeom prst="ellipse">
            <a:avLst/>
          </a:prstGeom>
          <a:solidFill>
            <a:srgbClr val="0F766E"/>
          </a:solidFill>
          <a:ln w="12700">
            <a:solidFill>
              <a:srgbClr val="0F766E"/>
            </a:solidFill>
            <a:prstDash val="solid"/>
          </a:ln>
        </p:spPr>
      </p:sp>
      <p:sp>
        <p:nvSpPr>
          <p:cNvPr id="15" name="Text 11"/>
          <p:cNvSpPr txBox="1"/>
          <p:nvPr/>
        </p:nvSpPr>
        <p:spPr>
          <a:xfrm>
            <a:off x="2816352" y="402336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Stop signs from OpenStreetMap</a:t>
            </a:r>
            <a:endParaRPr lang="en-US" sz="1300" dirty="0"/>
          </a:p>
        </p:txBody>
      </p:sp>
      <p:sp>
        <p:nvSpPr>
          <p:cNvPr id="16" name="Shape 12"/>
          <p:cNvSpPr/>
          <p:nvPr/>
        </p:nvSpPr>
        <p:spPr>
          <a:xfrm>
            <a:off x="2596896" y="4398264"/>
            <a:ext cx="109728" cy="109728"/>
          </a:xfrm>
          <a:prstGeom prst="ellipse">
            <a:avLst/>
          </a:prstGeom>
          <a:solidFill>
            <a:srgbClr val="0F766E"/>
          </a:solidFill>
          <a:ln w="12700">
            <a:solidFill>
              <a:srgbClr val="0F766E"/>
            </a:solidFill>
            <a:prstDash val="solid"/>
          </a:ln>
        </p:spPr>
      </p:sp>
      <p:sp>
        <p:nvSpPr>
          <p:cNvPr id="17" name="Text 13"/>
          <p:cNvSpPr txBox="1"/>
          <p:nvPr/>
        </p:nvSpPr>
        <p:spPr>
          <a:xfrm>
            <a:off x="2816352" y="429768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Under 0.7 m/s counts as a full stop</a:t>
            </a:r>
            <a:endParaRPr lang="en-US" sz="1300" dirty="0"/>
          </a:p>
        </p:txBody>
      </p:sp>
      <p:sp>
        <p:nvSpPr>
          <p:cNvPr id="18" name="Shape 14"/>
          <p:cNvSpPr/>
          <p:nvPr/>
        </p:nvSpPr>
        <p:spPr>
          <a:xfrm>
            <a:off x="2596896" y="4672584"/>
            <a:ext cx="109728" cy="109728"/>
          </a:xfrm>
          <a:prstGeom prst="ellipse">
            <a:avLst/>
          </a:prstGeom>
          <a:solidFill>
            <a:srgbClr val="0F766E"/>
          </a:solidFill>
          <a:ln w="12700">
            <a:solidFill>
              <a:srgbClr val="0F766E"/>
            </a:solidFill>
            <a:prstDash val="solid"/>
          </a:ln>
        </p:spPr>
      </p:sp>
      <p:sp>
        <p:nvSpPr>
          <p:cNvPr id="19" name="Text 15"/>
          <p:cNvSpPr txBox="1"/>
          <p:nvPr/>
        </p:nvSpPr>
        <p:spPr>
          <a:xfrm>
            <a:off x="2816352" y="457200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Skill scores pick what to practice next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274320"/>
            <a:ext cx="6400800" cy="548640"/>
          </a:xfrm>
          <a:prstGeom prst="rect">
            <a:avLst/>
          </a:prstGeom>
          <a:noFill/>
          <a:ln/>
        </p:spPr>
        <p:txBody>
          <a:bodyPr wrap="square" lIns="0" tIns="0" rIns="0" bIns="0" rtlCol="0" anchor="ctr"/>
          <a:lstStyle/>
          <a:p>
            <a:pPr indent="0" marL="0">
              <a:buNone/>
            </a:pPr>
            <a:r>
              <a:rPr lang="en-US" sz="3200" b="1" dirty="0">
                <a:solidFill>
                  <a:srgbClr val="1C1C1E"/>
                </a:solidFill>
                <a:latin typeface="Barlow" pitchFamily="34" charset="0"/>
                <a:ea typeface="Barlow" pitchFamily="34" charset="-122"/>
                <a:cs typeface="Barlow" pitchFamily="34" charset="-120"/>
              </a:rPr>
              <a:t>Permit Hours</a:t>
            </a:r>
            <a:endParaRPr lang="en-US" sz="3200" dirty="0"/>
          </a:p>
        </p:txBody>
      </p:sp>
      <p:sp>
        <p:nvSpPr>
          <p:cNvPr id="3" name="Shape 1"/>
          <p:cNvSpPr/>
          <p:nvPr/>
        </p:nvSpPr>
        <p:spPr>
          <a:xfrm>
            <a:off x="457200" y="841248"/>
            <a:ext cx="512064" cy="274320"/>
          </a:xfrm>
          <a:prstGeom prst="roundRect">
            <a:avLst>
              <a:gd name="adj" fmla="val 50000"/>
            </a:avLst>
          </a:prstGeom>
          <a:solidFill>
            <a:srgbClr val="D7EEEB"/>
          </a:solidFill>
          <a:ln w="12700">
            <a:solidFill>
              <a:srgbClr val="D7EEEB"/>
            </a:solidFill>
            <a:prstDash val="solid"/>
          </a:ln>
        </p:spPr>
      </p:sp>
      <p:sp>
        <p:nvSpPr>
          <p:cNvPr id="4" name="Text 2"/>
          <p:cNvSpPr txBox="1"/>
          <p:nvPr/>
        </p:nvSpPr>
        <p:spPr>
          <a:xfrm>
            <a:off x="457200" y="841248"/>
            <a:ext cx="512064" cy="274320"/>
          </a:xfrm>
          <a:prstGeom prst="rect">
            <a:avLst/>
          </a:prstGeom>
          <a:noFill/>
          <a:ln/>
        </p:spPr>
        <p:txBody>
          <a:bodyPr wrap="square" lIns="0" tIns="0" rIns="0" bIns="0" rtlCol="0" anchor="ctr"/>
          <a:lstStyle/>
          <a:p>
            <a:pPr algn="ctr" indent="0" marL="0">
              <a:buNone/>
            </a:pPr>
            <a:r>
              <a:rPr lang="en-US" sz="1100" b="1" dirty="0">
                <a:solidFill>
                  <a:srgbClr val="0F766E"/>
                </a:solidFill>
                <a:latin typeface="Inter" pitchFamily="34" charset="0"/>
                <a:ea typeface="Inter" pitchFamily="34" charset="-122"/>
                <a:cs typeface="Inter" pitchFamily="34" charset="-120"/>
              </a:rPr>
              <a:t>Code</a:t>
            </a:r>
            <a:endParaRPr lang="en-US" sz="1100" dirty="0"/>
          </a:p>
        </p:txBody>
      </p:sp>
      <p:pic>
        <p:nvPicPr>
          <p:cNvPr id="5" name="Image 0" descr="Driveby app screen">    </p:cNvPr>
          <p:cNvPicPr>
            <a:picLocks noChangeAspect="1"/>
          </p:cNvPicPr>
          <p:nvPr/>
        </p:nvPicPr>
        <p:blipFill>
          <a:blip r:embed="rId1"/>
          <a:stretch>
            <a:fillRect/>
          </a:stretch>
        </p:blipFill>
        <p:spPr>
          <a:xfrm>
            <a:off x="457200" y="1280160"/>
            <a:ext cx="1661908" cy="3611880"/>
          </a:xfrm>
          <a:prstGeom prst="rect">
            <a:avLst/>
          </a:prstGeom>
        </p:spPr>
      </p:pic>
      <p:sp>
        <p:nvSpPr>
          <p:cNvPr id="6" name="Shape 3"/>
          <p:cNvSpPr/>
          <p:nvPr/>
        </p:nvSpPr>
        <p:spPr>
          <a:xfrm>
            <a:off x="457200" y="1280160"/>
            <a:ext cx="1661908" cy="3611880"/>
          </a:xfrm>
          <a:prstGeom prst="roundRect">
            <a:avLst>
              <a:gd name="adj" fmla="val 11004"/>
            </a:avLst>
          </a:prstGeom>
          <a:ln w="12700">
            <a:solidFill>
              <a:srgbClr val="D1D1D6"/>
            </a:solidFill>
            <a:prstDash val="solid"/>
          </a:ln>
        </p:spPr>
      </p:sp>
      <p:sp>
        <p:nvSpPr>
          <p:cNvPr id="7" name="Shape 4"/>
          <p:cNvSpPr/>
          <p:nvPr/>
        </p:nvSpPr>
        <p:spPr>
          <a:xfrm>
            <a:off x="2377440" y="1280160"/>
            <a:ext cx="3025629" cy="1874520"/>
          </a:xfrm>
          <a:prstGeom prst="roundRect">
            <a:avLst>
              <a:gd name="adj" fmla="val 8780"/>
            </a:avLst>
          </a:prstGeom>
          <a:solidFill>
            <a:srgbClr val="FFFFFF"/>
          </a:solidFill>
          <a:ln w="12700">
            <a:solidFill>
              <a:srgbClr val="FFFFFF"/>
            </a:solidFill>
            <a:prstDash val="solid"/>
          </a:ln>
        </p:spPr>
      </p:sp>
      <p:sp>
        <p:nvSpPr>
          <p:cNvPr id="8" name="Text 5"/>
          <p:cNvSpPr txBox="1"/>
          <p:nvPr/>
        </p:nvSpPr>
        <p:spPr>
          <a:xfrm>
            <a:off x="2560320" y="1371600"/>
            <a:ext cx="274320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The code</a:t>
            </a:r>
            <a:endParaRPr lang="en-US" sz="1500" dirty="0"/>
          </a:p>
        </p:txBody>
      </p:sp>
      <p:pic>
        <p:nvPicPr>
          <p:cNvPr id="9" name="Image 1" descr="Driveby source code">    </p:cNvPr>
          <p:cNvPicPr>
            <a:picLocks noChangeAspect="1"/>
          </p:cNvPicPr>
          <p:nvPr/>
        </p:nvPicPr>
        <p:blipFill>
          <a:blip r:embed="rId2"/>
          <a:stretch>
            <a:fillRect/>
          </a:stretch>
        </p:blipFill>
        <p:spPr>
          <a:xfrm>
            <a:off x="2560320" y="1691640"/>
            <a:ext cx="2659869" cy="1325880"/>
          </a:xfrm>
          <a:prstGeom prst="rect">
            <a:avLst/>
          </a:prstGeom>
        </p:spPr>
      </p:pic>
      <p:sp>
        <p:nvSpPr>
          <p:cNvPr id="10" name="Shape 6"/>
          <p:cNvSpPr/>
          <p:nvPr/>
        </p:nvSpPr>
        <p:spPr>
          <a:xfrm>
            <a:off x="2377440" y="3291840"/>
            <a:ext cx="4434840" cy="1645920"/>
          </a:xfrm>
          <a:prstGeom prst="roundRect">
            <a:avLst>
              <a:gd name="adj" fmla="val 10000"/>
            </a:avLst>
          </a:prstGeom>
          <a:solidFill>
            <a:srgbClr val="FFFFFF"/>
          </a:solidFill>
          <a:ln w="12700">
            <a:solidFill>
              <a:srgbClr val="FFFFFF"/>
            </a:solidFill>
            <a:prstDash val="solid"/>
          </a:ln>
        </p:spPr>
      </p:sp>
      <p:sp>
        <p:nvSpPr>
          <p:cNvPr id="11" name="Text 7"/>
          <p:cNvSpPr txBox="1"/>
          <p:nvPr/>
        </p:nvSpPr>
        <p:spPr>
          <a:xfrm>
            <a:off x="2560320" y="3383280"/>
            <a:ext cx="406908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What it does</a:t>
            </a:r>
            <a:endParaRPr lang="en-US" sz="1500" dirty="0"/>
          </a:p>
        </p:txBody>
      </p:sp>
      <p:sp>
        <p:nvSpPr>
          <p:cNvPr id="12" name="Shape 8"/>
          <p:cNvSpPr/>
          <p:nvPr/>
        </p:nvSpPr>
        <p:spPr>
          <a:xfrm>
            <a:off x="2596896" y="3849624"/>
            <a:ext cx="109728" cy="109728"/>
          </a:xfrm>
          <a:prstGeom prst="ellipse">
            <a:avLst/>
          </a:prstGeom>
          <a:solidFill>
            <a:srgbClr val="0F766E"/>
          </a:solidFill>
          <a:ln w="12700">
            <a:solidFill>
              <a:srgbClr val="0F766E"/>
            </a:solidFill>
            <a:prstDash val="solid"/>
          </a:ln>
        </p:spPr>
      </p:sp>
      <p:sp>
        <p:nvSpPr>
          <p:cNvPr id="13" name="Text 9"/>
          <p:cNvSpPr txBox="1"/>
          <p:nvPr/>
        </p:nvSpPr>
        <p:spPr>
          <a:xfrm>
            <a:off x="2816352" y="374904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Supervised drives logged automatically</a:t>
            </a:r>
            <a:endParaRPr lang="en-US" sz="1300" dirty="0"/>
          </a:p>
        </p:txBody>
      </p:sp>
      <p:sp>
        <p:nvSpPr>
          <p:cNvPr id="14" name="Shape 10"/>
          <p:cNvSpPr/>
          <p:nvPr/>
        </p:nvSpPr>
        <p:spPr>
          <a:xfrm>
            <a:off x="2596896" y="4123944"/>
            <a:ext cx="109728" cy="109728"/>
          </a:xfrm>
          <a:prstGeom prst="ellipse">
            <a:avLst/>
          </a:prstGeom>
          <a:solidFill>
            <a:srgbClr val="0F766E"/>
          </a:solidFill>
          <a:ln w="12700">
            <a:solidFill>
              <a:srgbClr val="0F766E"/>
            </a:solidFill>
            <a:prstDash val="solid"/>
          </a:ln>
        </p:spPr>
      </p:sp>
      <p:sp>
        <p:nvSpPr>
          <p:cNvPr id="15" name="Text 11"/>
          <p:cNvSpPr txBox="1"/>
          <p:nvPr/>
        </p:nvSpPr>
        <p:spPr>
          <a:xfrm>
            <a:off x="2816352" y="402336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Night hours from the sun's position</a:t>
            </a:r>
            <a:endParaRPr lang="en-US" sz="1300" dirty="0"/>
          </a:p>
        </p:txBody>
      </p:sp>
      <p:sp>
        <p:nvSpPr>
          <p:cNvPr id="16" name="Shape 12"/>
          <p:cNvSpPr/>
          <p:nvPr/>
        </p:nvSpPr>
        <p:spPr>
          <a:xfrm>
            <a:off x="2596896" y="4398264"/>
            <a:ext cx="109728" cy="109728"/>
          </a:xfrm>
          <a:prstGeom prst="ellipse">
            <a:avLst/>
          </a:prstGeom>
          <a:solidFill>
            <a:srgbClr val="0F766E"/>
          </a:solidFill>
          <a:ln w="12700">
            <a:solidFill>
              <a:srgbClr val="0F766E"/>
            </a:solidFill>
            <a:prstDash val="solid"/>
          </a:ln>
        </p:spPr>
      </p:sp>
      <p:sp>
        <p:nvSpPr>
          <p:cNvPr id="17" name="Text 13"/>
          <p:cNvSpPr txBox="1"/>
          <p:nvPr/>
        </p:nvSpPr>
        <p:spPr>
          <a:xfrm>
            <a:off x="2816352" y="429768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Paper log photos read with Apple Vision</a:t>
            </a:r>
            <a:endParaRPr lang="en-US" sz="1300" dirty="0"/>
          </a:p>
        </p:txBody>
      </p:sp>
      <p:sp>
        <p:nvSpPr>
          <p:cNvPr id="18" name="Shape 14"/>
          <p:cNvSpPr/>
          <p:nvPr/>
        </p:nvSpPr>
        <p:spPr>
          <a:xfrm>
            <a:off x="2596896" y="4672584"/>
            <a:ext cx="109728" cy="109728"/>
          </a:xfrm>
          <a:prstGeom prst="ellipse">
            <a:avLst/>
          </a:prstGeom>
          <a:solidFill>
            <a:srgbClr val="0F766E"/>
          </a:solidFill>
          <a:ln w="12700">
            <a:solidFill>
              <a:srgbClr val="0F766E"/>
            </a:solidFill>
            <a:prstDash val="solid"/>
          </a:ln>
        </p:spPr>
      </p:sp>
      <p:sp>
        <p:nvSpPr>
          <p:cNvPr id="19" name="Text 15"/>
          <p:cNvSpPr txBox="1"/>
          <p:nvPr/>
        </p:nvSpPr>
        <p:spPr>
          <a:xfrm>
            <a:off x="2816352" y="4572000"/>
            <a:ext cx="3840480" cy="310896"/>
          </a:xfrm>
          <a:prstGeom prst="rect">
            <a:avLst/>
          </a:prstGeom>
          <a:noFill/>
          <a:ln/>
        </p:spPr>
        <p:txBody>
          <a:bodyPr wrap="square" lIns="0" tIns="0" rIns="0" bIns="0" rtlCol="0" anchor="ctr"/>
          <a:lstStyle/>
          <a:p>
            <a:pPr indent="0" marL="0">
              <a:buNone/>
            </a:pPr>
            <a:r>
              <a:rPr lang="en-US" sz="1300" dirty="0">
                <a:solidFill>
                  <a:srgbClr val="1C1C1E"/>
                </a:solidFill>
                <a:latin typeface="Inter" pitchFamily="34" charset="0"/>
                <a:ea typeface="Inter" pitchFamily="34" charset="-122"/>
                <a:cs typeface="Inter" pitchFamily="34" charset="-120"/>
              </a:rPr>
              <a:t>PDF export, ready for a parent to sign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2F7"/>
        </a:solidFill>
      </p:bgPr>
    </p:bg>
    <p:spTree>
      <p:nvGrpSpPr>
        <p:cNvPr id="1" name=""/>
        <p:cNvGrpSpPr/>
        <p:nvPr/>
      </p:nvGrpSpPr>
      <p:grpSpPr>
        <a:xfrm>
          <a:off x="0" y="0"/>
          <a:ext cx="0" cy="0"/>
          <a:chOff x="0" y="0"/>
          <a:chExt cx="0" cy="0"/>
        </a:xfrm>
      </p:grpSpPr>
      <p:sp>
        <p:nvSpPr>
          <p:cNvPr id="2" name="Text 0"/>
          <p:cNvSpPr txBox="1"/>
          <p:nvPr/>
        </p:nvSpPr>
        <p:spPr>
          <a:xfrm>
            <a:off x="457200" y="411480"/>
            <a:ext cx="3931920" cy="548640"/>
          </a:xfrm>
          <a:prstGeom prst="rect">
            <a:avLst/>
          </a:prstGeom>
          <a:noFill/>
          <a:ln/>
        </p:spPr>
        <p:txBody>
          <a:bodyPr wrap="square" lIns="0" tIns="0" rIns="0" bIns="0" rtlCol="0" anchor="ctr"/>
          <a:lstStyle/>
          <a:p>
            <a:pPr indent="0" marL="0">
              <a:buNone/>
            </a:pPr>
            <a:r>
              <a:rPr lang="en-US" sz="3200" b="1" dirty="0">
                <a:solidFill>
                  <a:srgbClr val="1C1C1E"/>
                </a:solidFill>
                <a:latin typeface="Barlow" pitchFamily="34" charset="0"/>
                <a:ea typeface="Barlow" pitchFamily="34" charset="-122"/>
                <a:cs typeface="Barlow" pitchFamily="34" charset="-120"/>
              </a:rPr>
              <a:t>Every drive counts.</a:t>
            </a:r>
            <a:endParaRPr lang="en-US" sz="3200" dirty="0"/>
          </a:p>
        </p:txBody>
      </p:sp>
      <p:sp>
        <p:nvSpPr>
          <p:cNvPr id="3" name="Shape 1"/>
          <p:cNvSpPr/>
          <p:nvPr/>
        </p:nvSpPr>
        <p:spPr>
          <a:xfrm>
            <a:off x="457200" y="1005840"/>
            <a:ext cx="745236" cy="274320"/>
          </a:xfrm>
          <a:prstGeom prst="roundRect">
            <a:avLst>
              <a:gd name="adj" fmla="val 50000"/>
            </a:avLst>
          </a:prstGeom>
          <a:solidFill>
            <a:srgbClr val="D7EEEB"/>
          </a:solidFill>
          <a:ln w="12700">
            <a:solidFill>
              <a:srgbClr val="D7EEEB"/>
            </a:solidFill>
            <a:prstDash val="solid"/>
          </a:ln>
        </p:spPr>
      </p:sp>
      <p:sp>
        <p:nvSpPr>
          <p:cNvPr id="4" name="Text 2"/>
          <p:cNvSpPr txBox="1"/>
          <p:nvPr/>
        </p:nvSpPr>
        <p:spPr>
          <a:xfrm>
            <a:off x="457200" y="1005840"/>
            <a:ext cx="745236" cy="274320"/>
          </a:xfrm>
          <a:prstGeom prst="rect">
            <a:avLst/>
          </a:prstGeom>
          <a:noFill/>
          <a:ln/>
        </p:spPr>
        <p:txBody>
          <a:bodyPr wrap="square" lIns="0" tIns="0" rIns="0" bIns="0" rtlCol="0" anchor="ctr"/>
          <a:lstStyle/>
          <a:p>
            <a:pPr algn="ctr" indent="0" marL="0">
              <a:buNone/>
            </a:pPr>
            <a:r>
              <a:rPr lang="en-US" sz="1100" b="1" dirty="0">
                <a:solidFill>
                  <a:srgbClr val="0F766E"/>
                </a:solidFill>
                <a:latin typeface="Inter" pitchFamily="34" charset="0"/>
                <a:ea typeface="Inter" pitchFamily="34" charset="-122"/>
                <a:cs typeface="Inter" pitchFamily="34" charset="-120"/>
              </a:rPr>
              <a:t>Driveby</a:t>
            </a:r>
            <a:endParaRPr lang="en-US" sz="1100" dirty="0"/>
          </a:p>
        </p:txBody>
      </p:sp>
      <p:sp>
        <p:nvSpPr>
          <p:cNvPr id="5" name="Shape 3"/>
          <p:cNvSpPr/>
          <p:nvPr/>
        </p:nvSpPr>
        <p:spPr>
          <a:xfrm>
            <a:off x="457200" y="1508760"/>
            <a:ext cx="3291840" cy="2286000"/>
          </a:xfrm>
          <a:prstGeom prst="roundRect">
            <a:avLst>
              <a:gd name="adj" fmla="val 7200"/>
            </a:avLst>
          </a:prstGeom>
          <a:solidFill>
            <a:srgbClr val="FFFFFF"/>
          </a:solidFill>
          <a:ln w="12700">
            <a:solidFill>
              <a:srgbClr val="FFFFFF"/>
            </a:solidFill>
            <a:prstDash val="solid"/>
          </a:ln>
        </p:spPr>
      </p:sp>
      <p:sp>
        <p:nvSpPr>
          <p:cNvPr id="6" name="Text 4"/>
          <p:cNvSpPr txBox="1"/>
          <p:nvPr/>
        </p:nvSpPr>
        <p:spPr>
          <a:xfrm>
            <a:off x="640080" y="1627632"/>
            <a:ext cx="2743200" cy="274320"/>
          </a:xfrm>
          <a:prstGeom prst="rect">
            <a:avLst/>
          </a:prstGeom>
          <a:noFill/>
          <a:ln/>
        </p:spPr>
        <p:txBody>
          <a:bodyPr wrap="square" lIns="0" tIns="0" rIns="0" bIns="0" rtlCol="0" anchor="ctr"/>
          <a:lstStyle/>
          <a:p>
            <a:pPr indent="0" marL="0">
              <a:buNone/>
            </a:pPr>
            <a:r>
              <a:rPr lang="en-US" sz="1500" b="1" dirty="0">
                <a:solidFill>
                  <a:srgbClr val="1C1C1E"/>
                </a:solidFill>
                <a:latin typeface="Barlow" pitchFamily="34" charset="0"/>
                <a:ea typeface="Barlow" pitchFamily="34" charset="-122"/>
                <a:cs typeface="Barlow" pitchFamily="34" charset="-120"/>
              </a:rPr>
              <a:t>Last drive</a:t>
            </a:r>
            <a:endParaRPr lang="en-US" sz="1500" dirty="0"/>
          </a:p>
        </p:txBody>
      </p:sp>
      <p:sp>
        <p:nvSpPr>
          <p:cNvPr id="7" name="Shape 5"/>
          <p:cNvSpPr/>
          <p:nvPr/>
        </p:nvSpPr>
        <p:spPr>
          <a:xfrm>
            <a:off x="777240" y="2148840"/>
            <a:ext cx="1097280" cy="1097280"/>
          </a:xfrm>
          <a:prstGeom prst="donut">
            <a:avLst/>
          </a:prstGeom>
          <a:solidFill>
            <a:srgbClr val="DCE6FB"/>
          </a:solidFill>
          <a:ln w="12700">
            <a:solidFill>
              <a:srgbClr val="DCE6FB"/>
            </a:solidFill>
            <a:prstDash val="solid"/>
          </a:ln>
        </p:spPr>
      </p:sp>
      <p:sp>
        <p:nvSpPr>
          <p:cNvPr id="8" name="Shape 6"/>
          <p:cNvSpPr/>
          <p:nvPr/>
        </p:nvSpPr>
        <p:spPr>
          <a:xfrm>
            <a:off x="777240" y="2148840"/>
            <a:ext cx="1097280" cy="1097280"/>
          </a:xfrm>
          <a:prstGeom prst="blockArc">
            <a:avLst>
              <a:gd name="adj1" fmla="val 16200000"/>
              <a:gd name="adj2" fmla="val 15978060"/>
              <a:gd name="adj3" fmla="val 13000"/>
            </a:avLst>
          </a:prstGeom>
          <a:solidFill>
            <a:srgbClr val="2663EB"/>
          </a:solidFill>
          <a:ln w="12700">
            <a:solidFill>
              <a:srgbClr val="2663EB"/>
            </a:solidFill>
            <a:prstDash val="solid"/>
          </a:ln>
        </p:spPr>
      </p:sp>
      <p:sp>
        <p:nvSpPr>
          <p:cNvPr id="9" name="Text 7"/>
          <p:cNvSpPr txBox="1"/>
          <p:nvPr/>
        </p:nvSpPr>
        <p:spPr>
          <a:xfrm>
            <a:off x="777240" y="2148840"/>
            <a:ext cx="1097280" cy="1097280"/>
          </a:xfrm>
          <a:prstGeom prst="rect">
            <a:avLst/>
          </a:prstGeom>
          <a:noFill/>
          <a:ln/>
        </p:spPr>
        <p:txBody>
          <a:bodyPr wrap="square" lIns="0" tIns="0" rIns="0" bIns="0" rtlCol="0" anchor="ctr"/>
          <a:lstStyle/>
          <a:p>
            <a:pPr algn="ctr" indent="0" marL="0">
              <a:buNone/>
            </a:pPr>
            <a:r>
              <a:rPr lang="en-US" sz="2900" b="1" dirty="0">
                <a:solidFill>
                  <a:srgbClr val="1C1C1E"/>
                </a:solidFill>
                <a:latin typeface="Barlow" pitchFamily="34" charset="0"/>
                <a:ea typeface="Barlow" pitchFamily="34" charset="-122"/>
                <a:cs typeface="Barlow" pitchFamily="34" charset="-120"/>
              </a:rPr>
              <a:t>99</a:t>
            </a:r>
            <a:endParaRPr lang="en-US" sz="2900" dirty="0"/>
          </a:p>
          <a:p>
            <a:pPr algn="ctr" indent="0" marL="0">
              <a:buNone/>
            </a:pPr>
            <a:r>
              <a:rPr lang="en-US" sz="900" dirty="0">
                <a:solidFill>
                  <a:srgbClr val="8A8A8E"/>
                </a:solidFill>
                <a:latin typeface="Inter" pitchFamily="34" charset="0"/>
                <a:ea typeface="Inter" pitchFamily="34" charset="-122"/>
                <a:cs typeface="Inter" pitchFamily="34" charset="-120"/>
              </a:rPr>
              <a:t>/ 100</a:t>
            </a:r>
            <a:endParaRPr lang="en-US" sz="2900" dirty="0"/>
          </a:p>
        </p:txBody>
      </p:sp>
      <p:sp>
        <p:nvSpPr>
          <p:cNvPr id="10" name="Text 8"/>
          <p:cNvSpPr txBox="1"/>
          <p:nvPr/>
        </p:nvSpPr>
        <p:spPr>
          <a:xfrm>
            <a:off x="594360" y="3291840"/>
            <a:ext cx="1463040" cy="274320"/>
          </a:xfrm>
          <a:prstGeom prst="rect">
            <a:avLst/>
          </a:prstGeom>
          <a:noFill/>
          <a:ln/>
        </p:spPr>
        <p:txBody>
          <a:bodyPr wrap="square" lIns="0" tIns="0" rIns="0" bIns="0" rtlCol="0" anchor="ctr"/>
          <a:lstStyle/>
          <a:p>
            <a:pPr algn="ctr" indent="0" marL="0">
              <a:buNone/>
            </a:pPr>
            <a:r>
              <a:rPr lang="en-US" sz="1400" b="1" dirty="0">
                <a:solidFill>
                  <a:srgbClr val="1C1C1E"/>
                </a:solidFill>
                <a:latin typeface="Barlow" pitchFamily="34" charset="0"/>
                <a:ea typeface="Barlow" pitchFamily="34" charset="-122"/>
                <a:cs typeface="Barlow" pitchFamily="34" charset="-120"/>
              </a:rPr>
              <a:t>Safety</a:t>
            </a:r>
            <a:endParaRPr lang="en-US" sz="1400" dirty="0"/>
          </a:p>
        </p:txBody>
      </p:sp>
      <p:sp>
        <p:nvSpPr>
          <p:cNvPr id="11" name="Shape 9"/>
          <p:cNvSpPr/>
          <p:nvPr/>
        </p:nvSpPr>
        <p:spPr>
          <a:xfrm>
            <a:off x="2331720" y="2148840"/>
            <a:ext cx="1097280" cy="1097280"/>
          </a:xfrm>
          <a:prstGeom prst="donut">
            <a:avLst/>
          </a:prstGeom>
          <a:solidFill>
            <a:srgbClr val="D9F2E2"/>
          </a:solidFill>
          <a:ln w="12700">
            <a:solidFill>
              <a:srgbClr val="D9F2E2"/>
            </a:solidFill>
            <a:prstDash val="solid"/>
          </a:ln>
        </p:spPr>
      </p:sp>
      <p:sp>
        <p:nvSpPr>
          <p:cNvPr id="12" name="Shape 10"/>
          <p:cNvSpPr/>
          <p:nvPr/>
        </p:nvSpPr>
        <p:spPr>
          <a:xfrm>
            <a:off x="2331720" y="2148840"/>
            <a:ext cx="1097280" cy="1097280"/>
          </a:xfrm>
          <a:prstGeom prst="blockArc">
            <a:avLst>
              <a:gd name="adj1" fmla="val 16200000"/>
              <a:gd name="adj2" fmla="val 12091140"/>
              <a:gd name="adj3" fmla="val 13000"/>
            </a:avLst>
          </a:prstGeom>
          <a:solidFill>
            <a:srgbClr val="17A34A"/>
          </a:solidFill>
          <a:ln w="12700">
            <a:solidFill>
              <a:srgbClr val="17A34A"/>
            </a:solidFill>
            <a:prstDash val="solid"/>
          </a:ln>
        </p:spPr>
      </p:sp>
      <p:sp>
        <p:nvSpPr>
          <p:cNvPr id="13" name="Text 11"/>
          <p:cNvSpPr txBox="1"/>
          <p:nvPr/>
        </p:nvSpPr>
        <p:spPr>
          <a:xfrm>
            <a:off x="2331720" y="2148840"/>
            <a:ext cx="1097280" cy="1097280"/>
          </a:xfrm>
          <a:prstGeom prst="rect">
            <a:avLst/>
          </a:prstGeom>
          <a:noFill/>
          <a:ln/>
        </p:spPr>
        <p:txBody>
          <a:bodyPr wrap="square" lIns="0" tIns="0" rIns="0" bIns="0" rtlCol="0" anchor="ctr"/>
          <a:lstStyle/>
          <a:p>
            <a:pPr algn="ctr" indent="0" marL="0">
              <a:buNone/>
            </a:pPr>
            <a:r>
              <a:rPr lang="en-US" sz="2900" b="1" dirty="0">
                <a:solidFill>
                  <a:srgbClr val="1C1C1E"/>
                </a:solidFill>
                <a:latin typeface="Barlow" pitchFamily="34" charset="0"/>
                <a:ea typeface="Barlow" pitchFamily="34" charset="-122"/>
                <a:cs typeface="Barlow" pitchFamily="34" charset="-120"/>
              </a:rPr>
              <a:t>81</a:t>
            </a:r>
            <a:endParaRPr lang="en-US" sz="2900" dirty="0"/>
          </a:p>
          <a:p>
            <a:pPr algn="ctr" indent="0" marL="0">
              <a:buNone/>
            </a:pPr>
            <a:r>
              <a:rPr lang="en-US" sz="900" dirty="0">
                <a:solidFill>
                  <a:srgbClr val="8A8A8E"/>
                </a:solidFill>
                <a:latin typeface="Inter" pitchFamily="34" charset="0"/>
                <a:ea typeface="Inter" pitchFamily="34" charset="-122"/>
                <a:cs typeface="Inter" pitchFamily="34" charset="-120"/>
              </a:rPr>
              <a:t>/ 100</a:t>
            </a:r>
            <a:endParaRPr lang="en-US" sz="2900" dirty="0"/>
          </a:p>
        </p:txBody>
      </p:sp>
      <p:sp>
        <p:nvSpPr>
          <p:cNvPr id="14" name="Text 12"/>
          <p:cNvSpPr txBox="1"/>
          <p:nvPr/>
        </p:nvSpPr>
        <p:spPr>
          <a:xfrm>
            <a:off x="2148840" y="3291840"/>
            <a:ext cx="1463040" cy="274320"/>
          </a:xfrm>
          <a:prstGeom prst="rect">
            <a:avLst/>
          </a:prstGeom>
          <a:noFill/>
          <a:ln/>
        </p:spPr>
        <p:txBody>
          <a:bodyPr wrap="square" lIns="0" tIns="0" rIns="0" bIns="0" rtlCol="0" anchor="ctr"/>
          <a:lstStyle/>
          <a:p>
            <a:pPr algn="ctr" indent="0" marL="0">
              <a:buNone/>
            </a:pPr>
            <a:r>
              <a:rPr lang="en-US" sz="1400" b="1" dirty="0">
                <a:solidFill>
                  <a:srgbClr val="1C1C1E"/>
                </a:solidFill>
                <a:latin typeface="Barlow" pitchFamily="34" charset="0"/>
                <a:ea typeface="Barlow" pitchFamily="34" charset="-122"/>
                <a:cs typeface="Barlow" pitchFamily="34" charset="-120"/>
              </a:rPr>
              <a:t>Efficiency</a:t>
            </a:r>
            <a:endParaRPr lang="en-US" sz="1400" dirty="0"/>
          </a:p>
        </p:txBody>
      </p:sp>
      <p:pic>
        <p:nvPicPr>
          <p:cNvPr id="15" name="Image 0" descr="Driveby app screen">    </p:cNvPr>
          <p:cNvPicPr>
            <a:picLocks noChangeAspect="1"/>
          </p:cNvPicPr>
          <p:nvPr/>
        </p:nvPicPr>
        <p:blipFill>
          <a:blip r:embed="rId1"/>
          <a:stretch>
            <a:fillRect/>
          </a:stretch>
        </p:blipFill>
        <p:spPr>
          <a:xfrm>
            <a:off x="4526280" y="914400"/>
            <a:ext cx="1304282" cy="2834640"/>
          </a:xfrm>
          <a:prstGeom prst="rect">
            <a:avLst/>
          </a:prstGeom>
        </p:spPr>
      </p:pic>
      <p:sp>
        <p:nvSpPr>
          <p:cNvPr id="16" name="Shape 13"/>
          <p:cNvSpPr/>
          <p:nvPr/>
        </p:nvSpPr>
        <p:spPr>
          <a:xfrm>
            <a:off x="4526280" y="914400"/>
            <a:ext cx="1304282" cy="2834640"/>
          </a:xfrm>
          <a:prstGeom prst="roundRect">
            <a:avLst>
              <a:gd name="adj" fmla="val 14022"/>
            </a:avLst>
          </a:prstGeom>
          <a:ln w="12700">
            <a:solidFill>
              <a:srgbClr val="D1D1D6"/>
            </a:solidFill>
            <a:prstDash val="solid"/>
          </a:ln>
        </p:spPr>
      </p:sp>
      <p:pic>
        <p:nvPicPr>
          <p:cNvPr id="17" name="Image 1" descr="Driveby app screen">    </p:cNvPr>
          <p:cNvPicPr>
            <a:picLocks noChangeAspect="1"/>
          </p:cNvPicPr>
          <p:nvPr/>
        </p:nvPicPr>
        <p:blipFill>
          <a:blip r:embed="rId2"/>
          <a:stretch>
            <a:fillRect/>
          </a:stretch>
        </p:blipFill>
        <p:spPr>
          <a:xfrm>
            <a:off x="5925312" y="914400"/>
            <a:ext cx="1304282" cy="2834640"/>
          </a:xfrm>
          <a:prstGeom prst="rect">
            <a:avLst/>
          </a:prstGeom>
        </p:spPr>
      </p:pic>
      <p:sp>
        <p:nvSpPr>
          <p:cNvPr id="18" name="Shape 14"/>
          <p:cNvSpPr/>
          <p:nvPr/>
        </p:nvSpPr>
        <p:spPr>
          <a:xfrm>
            <a:off x="5925312" y="914400"/>
            <a:ext cx="1304282" cy="2834640"/>
          </a:xfrm>
          <a:prstGeom prst="roundRect">
            <a:avLst>
              <a:gd name="adj" fmla="val 14022"/>
            </a:avLst>
          </a:prstGeom>
          <a:ln w="12700">
            <a:solidFill>
              <a:srgbClr val="D1D1D6"/>
            </a:solidFill>
            <a:prstDash val="solid"/>
          </a:ln>
        </p:spPr>
      </p:sp>
      <p:pic>
        <p:nvPicPr>
          <p:cNvPr id="19" name="Image 2" descr="Driveby app screen">    </p:cNvPr>
          <p:cNvPicPr>
            <a:picLocks noChangeAspect="1"/>
          </p:cNvPicPr>
          <p:nvPr/>
        </p:nvPicPr>
        <p:blipFill>
          <a:blip r:embed="rId3"/>
          <a:stretch>
            <a:fillRect/>
          </a:stretch>
        </p:blipFill>
        <p:spPr>
          <a:xfrm>
            <a:off x="7324344" y="914400"/>
            <a:ext cx="1304282" cy="2834640"/>
          </a:xfrm>
          <a:prstGeom prst="rect">
            <a:avLst/>
          </a:prstGeom>
        </p:spPr>
      </p:pic>
      <p:sp>
        <p:nvSpPr>
          <p:cNvPr id="20" name="Shape 15"/>
          <p:cNvSpPr/>
          <p:nvPr/>
        </p:nvSpPr>
        <p:spPr>
          <a:xfrm>
            <a:off x="7324344" y="914400"/>
            <a:ext cx="1304282" cy="2834640"/>
          </a:xfrm>
          <a:prstGeom prst="roundRect">
            <a:avLst>
              <a:gd name="adj" fmla="val 14022"/>
            </a:avLst>
          </a:prstGeom>
          <a:ln w="12700">
            <a:solidFill>
              <a:srgbClr val="D1D1D6"/>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Driveby</dc:title>
  <dc:subject>PptxGenJS Presentation</dc:subject>
  <dc:creator>PptxGenJS</dc:creator>
  <cp:lastModifiedBy>PptxGenJS</cp:lastModifiedBy>
  <cp:revision>1</cp:revision>
  <dcterms:created xsi:type="dcterms:W3CDTF">2026-10-25T20:34:43Z</dcterms:created>
  <dcterms:modified xsi:type="dcterms:W3CDTF">2026-10-25T20:34:43Z</dcterms:modified>
</cp:coreProperties>
</file>